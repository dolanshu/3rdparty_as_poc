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0" userDrawn="1">
          <p15:clr>
            <a:srgbClr val="747775"/>
          </p15:clr>
        </p15:guide>
        <p15:guide id="2" pos="292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0"/>
        <p:guide pos="292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project is a proof-of-concept for a third-party IMS Application Server: a B2BUA positioned outside the carrier network, connecting to the operator's S-SBC via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Core capabilities are number translation and intelligent routing, purely on the signalling plane with no media processing. Current version v0.5.0 with all M0-M4 milestones completed.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slide shows where the project sits in the carrier network: it is a third-party Application Server outside the IMS core, reached via the S-SBC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dashed IMS box encompasses the IMS Core Network (S-CSCF, SIP protocol conversion, topology hiding, security isolation) and the S-SBC at the service boundary. The 3rd-Party AS sits outside, reached over a SIP trunk / leased line.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Key boundaries: signalling only (no RTP), B2BUA not 302 redirect, switching from Mock to real S-SBC is config-only.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runs as three separate Docker containers orchestrated by docker compose. This is ADR-0002: sippy's ED2 loop blocks the main thread, so it cannot share an event loop with a web server.</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Each container has its own network namespace and ports. The AS is the core B2BUA, s-sbc-mock simulates the operator side, and console provides the ops UI. Switching from Mock to a real S-SBC requires only environment variable changes, no code changes.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diagram shows the complete call signalling flow. The UAC sends INVITE to the AS, which matches the routing rule and translates the number from E.164 to national format, then sends a new INVITE upstream.</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Responses (100, 180, 200 OK) are relayed segment by segment back to the UAC. The SDP and SIP headers pass through unchanged; only the Request-URI is rewritten. ACK is handled by the SIP transaction layer automatically.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routing engine is the core business logic. All routing policy is written as YAML data, not code - this is ADR-0004.</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Rules match by priority ascending, support both exact number and prefix matching, and can be filtered by number format. The current rule set has 17 rules and 6 next hops covering mobile, fixed, international, short code, and emergency scenarios.</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rules file supports hot reload with 1-second polling. If a new config has a syntax error, the old rules are kept.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Number translation is the core business capability. The system supports interconversion between four number formats: E.164 international, national 0-prefix, short code, and international 00-prefix.</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table shows typical scenarios: mobile numbers from E.164 to national, PBX extensions expanded to full numbers, international calls from 00-prefix to +-prefix, emergency short codes passed through, and value-added service numbers blocked with 603.</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has complete error handling. Four typical exception scenarios have explicit SIP responses: no matching rule returns 404, policy rejection returns 603, caller CANCEL is handled, and unauthorized peer addresses return 403.</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internal errors use a unified AS-XXX-NNN error code system mapped to SIP standard status codes. Next-hop failover switches from primary to backup after 3 seconds.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Observability is fundamental to a carrier-grade system. All logs are structured JSON, each line carrying the Call-ID for full call lifecycle tracing.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ops console runs as a separate process and communicates with the AS via internal API, providing real-time message flow, rule hit highlighting, stats panel, and SVG topology. It uses pure HTML/CSS/JS with no frontend framework.</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All technical choices are documented as ADRs. sippy is a mature RFC 3261 SIP stack providing a B2BUA framework, avoiding hand-rolling a SIP protocol stack.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Six key decisions cover everything from transport to business logic: why sippy, why separate console process, why UDP only, why rules as data, why Mock shares the stack, and why signalling-only.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project progressed through five milestones, all completed. M0 builds the skeleton, M1 establishes the signalling path, M2 implements number translation and routing, M3 builds the ops console, and M4 completes acceptance and documentation.</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119 test cases pass across unit, integration, and end-to-end layers. All architecture decisions are documented in ADRs. Current version is v0.5.0.</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As a POC, this project intentionally implements only the core signalling logic. Every restriction is explicitly registered in production-gaps.md - not forgotten, but a conscious trade-off.</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left column lists current limitations: UDP-only, IP-whitelist-only, single peer, no persistence, no CDR, no security hardening, local logs, local config.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right column lists the TODO roadmap to production: TLS, Digest auth, multi-S-SBC failover, session recovery, CDR, rate limiting, centralized observability, and managed configuration.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0" Type="http://schemas.openxmlformats.org/officeDocument/2006/relationships/notesSlide" Target="../notesSlides/notesSlide11.xml"/><Relationship Id="rId1" Type="http://schemas.openxmlformats.org/officeDocument/2006/relationships/tags" Target="../tags/tag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651000"/>
            <a:ext cx="1016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APPLICATION SERVER</a:t>
            </a:r>
            <a:endParaRPr lang="en-US" sz="1100"/>
          </a:p>
        </p:txBody>
      </p:sp>
      <p:sp>
        <p:nvSpPr>
          <p:cNvPr id="3" name="AutoShape 3"/>
          <p:cNvSpPr/>
          <p:nvPr/>
        </p:nvSpPr>
        <p:spPr>
          <a:xfrm>
            <a:off x="1016000" y="2222500"/>
            <a:ext cx="10160000" cy="711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B2BUA Number Translation &amp; Routing POC</a:t>
            </a:r>
            <a:endParaRPr lang="en-US" sz="1100"/>
          </a:p>
        </p:txBody>
      </p:sp>
      <p:sp>
        <p:nvSpPr>
          <p:cNvPr id="4" name="AutoShape 4"/>
          <p:cNvSpPr/>
          <p:nvPr/>
        </p:nvSpPr>
        <p:spPr>
          <a:xfrm>
            <a:off x="1016000" y="3238500"/>
            <a:ext cx="9652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Signalling-only SIP B2BUA - Declarative YAML routing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Version 0.5.0 · SIP / RFC 3261 · Signalling Only</a:t>
            </a:r>
            <a:endParaRPr lang="en-US" sz="1100"/>
          </a:p>
        </p:txBody>
      </p:sp>
      <p:sp>
        <p:nvSpPr>
          <p:cNvPr id="7" name="AutoShape 7"/>
          <p:cNvSpPr/>
          <p:nvPr/>
        </p:nvSpPr>
        <p:spPr>
          <a:xfrm>
            <a:off x="1016000" y="469900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September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01 / POSITIONING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B2BUA outside the carrier network, signalling only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pic>
        <p:nvPicPr>
          <p:cNvPr id="5" name="Picture 5"/>
          <p:cNvPicPr>
            <a:picLocks noChangeAspect="1"/>
          </p:cNvPicPr>
          <p:nvPr/>
        </p:nvPicPr>
        <p:blipFill>
          <a:blip r:embed="rId1"/>
          <a:srcRect t="30" b="30"/>
          <a:stretch>
            <a:fillRect/>
          </a:stretch>
        </p:blipFill>
        <p:spPr>
          <a:xfrm>
            <a:off x="1397000" y="1460500"/>
            <a:ext cx="9398000" cy="5283200"/>
          </a:xfrm>
          <a:prstGeom prst="rect">
            <a:avLst/>
          </a:prstGeom>
          <a:noFill/>
          <a:ln w="25400" cap="flat" cmpd="sng">
            <a:noFill/>
            <a:prstDash val="solid"/>
            <a:round/>
          </a:ln>
        </p:spPr>
      </p:pic>
      <p:sp>
        <p:nvSpPr>
          <p:cNvPr id="6" name="AutoShape 6"/>
          <p:cNvSpPr/>
          <p:nvPr/>
        </p:nvSpPr>
        <p:spPr>
          <a:xfrm>
            <a:off x="1625600" y="2730500"/>
            <a:ext cx="5588000" cy="3810000"/>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7" name="AutoShape 7"/>
          <p:cNvSpPr/>
          <p:nvPr/>
        </p:nvSpPr>
        <p:spPr>
          <a:xfrm>
            <a:off x="1778000" y="2616200"/>
            <a:ext cx="762000" cy="279400"/>
          </a:xfrm>
          <a:prstGeom prst="roundRect">
            <a:avLst>
              <a:gd name="adj" fmla="val 0"/>
            </a:avLst>
          </a:prstGeom>
          <a:solidFill>
            <a:srgbClr val="F2F4F8">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778000" y="2616200"/>
            <a:ext cx="762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IMS</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02 / ARCHITECTURE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Three-process isolation in Docker Compose</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635000" y="1524000"/>
            <a:ext cx="10922000" cy="4699000"/>
          </a:xfrm>
          <a:prstGeom prst="roundRect">
            <a:avLst>
              <a:gd name="adj" fmla="val 0"/>
            </a:avLst>
          </a:prstGeom>
          <a:noFill/>
          <a:ln w="25400" cap="flat" cmpd="sng">
            <a:solidFill>
              <a:srgbClr val="0D1326">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875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DOCKER HOST (compose)</a:t>
            </a:r>
            <a:endParaRPr lang="en-US" sz="1100"/>
          </a:p>
        </p:txBody>
      </p:sp>
      <p:grpSp>
        <p:nvGrpSpPr>
          <p:cNvPr id="28" name="组合 27"/>
          <p:cNvGrpSpPr/>
          <p:nvPr/>
        </p:nvGrpSpPr>
        <p:grpSpPr>
          <a:xfrm>
            <a:off x="4318000" y="2590800"/>
            <a:ext cx="3515995" cy="2842260"/>
            <a:chOff x="1600" y="3100"/>
            <a:chExt cx="4600" cy="4476"/>
          </a:xfrm>
        </p:grpSpPr>
        <p:sp>
          <p:nvSpPr>
            <p:cNvPr id="11" name="AutoShape 11"/>
            <p:cNvSpPr/>
            <p:nvPr/>
          </p:nvSpPr>
          <p:spPr>
            <a:xfrm>
              <a:off x="1800" y="407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as_app.main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5060 - SIP trunk</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TCP 8080 - internal API</a:t>
              </a:r>
              <a:endParaRPr lang="en-US" sz="1100" b="0" i="0" u="none" strike="noStrike">
                <a:solidFill>
                  <a:srgbClr val="536174"/>
                </a:solidFill>
                <a:latin typeface="Inter"/>
                <a:ea typeface="Inter"/>
                <a:cs typeface="Inter"/>
                <a:sym typeface="Inter"/>
              </a:endParaRPr>
            </a:p>
          </p:txBody>
        </p:sp>
        <p:grpSp>
          <p:nvGrpSpPr>
            <p:cNvPr id="27" name="组合 26"/>
            <p:cNvGrpSpPr/>
            <p:nvPr/>
          </p:nvGrpSpPr>
          <p:grpSpPr>
            <a:xfrm>
              <a:off x="1600" y="3100"/>
              <a:ext cx="4600" cy="4476"/>
              <a:chOff x="1600" y="3100"/>
              <a:chExt cx="4600" cy="4476"/>
            </a:xfrm>
          </p:grpSpPr>
          <p:sp>
            <p:nvSpPr>
              <p:cNvPr id="10" name="AutoShape 10"/>
              <p:cNvSpPr/>
              <p:nvPr/>
            </p:nvSpPr>
            <p:spPr>
              <a:xfrm>
                <a:off x="1800" y="3526"/>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as_app</a:t>
                </a:r>
                <a:endParaRPr lang="en-US" sz="1100"/>
              </a:p>
            </p:txBody>
          </p:sp>
          <p:grpSp>
            <p:nvGrpSpPr>
              <p:cNvPr id="26" name="组合 25"/>
              <p:cNvGrpSpPr/>
              <p:nvPr/>
            </p:nvGrpSpPr>
            <p:grpSpPr>
              <a:xfrm>
                <a:off x="1600" y="3100"/>
                <a:ext cx="3218" cy="4476"/>
                <a:chOff x="1600" y="3100"/>
                <a:chExt cx="3218" cy="4476"/>
              </a:xfrm>
            </p:grpSpPr>
            <p:sp>
              <p:nvSpPr>
                <p:cNvPr id="7" name="AutoShape 7"/>
                <p:cNvSpPr/>
                <p:nvPr/>
              </p:nvSpPr>
              <p:spPr>
                <a:xfrm>
                  <a:off x="1600" y="3200"/>
                  <a:ext cx="3218"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8" name="AutoShape 8"/>
                <p:cNvSpPr/>
                <p:nvPr/>
              </p:nvSpPr>
              <p:spPr>
                <a:xfrm>
                  <a:off x="1800" y="3100"/>
                  <a:ext cx="24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800" y="3100"/>
                  <a:ext cx="24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as</a:t>
                  </a:r>
                  <a:endParaRPr lang="en-US" sz="1100"/>
                </a:p>
              </p:txBody>
            </p:sp>
            <p:sp>
              <p:nvSpPr>
                <p:cNvPr id="12" name="AutoShape 12"/>
                <p:cNvSpPr/>
                <p:nvPr/>
              </p:nvSpPr>
              <p:spPr>
                <a:xfrm>
                  <a:off x="1600" y="5452"/>
                  <a:ext cx="2600" cy="1996"/>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B2BUU core</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engine</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translation</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Structured logging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:8080</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grpSp>
        <p:nvGrpSpPr>
          <p:cNvPr id="25" name="组合 24"/>
          <p:cNvGrpSpPr/>
          <p:nvPr/>
        </p:nvGrpSpPr>
        <p:grpSpPr>
          <a:xfrm>
            <a:off x="872490" y="2054225"/>
            <a:ext cx="2540000" cy="2286000"/>
            <a:chOff x="7100" y="3100"/>
            <a:chExt cx="5000" cy="4234"/>
          </a:xfrm>
        </p:grpSpPr>
        <p:sp>
          <p:nvSpPr>
            <p:cNvPr id="13" name="AutoShape 13"/>
            <p:cNvSpPr/>
            <p:nvPr/>
          </p:nvSpPr>
          <p:spPr>
            <a:xfrm>
              <a:off x="7100" y="3200"/>
              <a:ext cx="5000" cy="4135"/>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14" name="AutoShape 14"/>
            <p:cNvSpPr/>
            <p:nvPr/>
          </p:nvSpPr>
          <p:spPr>
            <a:xfrm>
              <a:off x="7300" y="3100"/>
              <a:ext cx="30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7300" y="3100"/>
              <a:ext cx="30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s-sbc-mock</a:t>
              </a:r>
              <a:endParaRPr lang="en-US" sz="1100"/>
            </a:p>
          </p:txBody>
        </p:sp>
        <p:sp>
          <p:nvSpPr>
            <p:cNvPr id="16" name="AutoShape 16"/>
            <p:cNvSpPr/>
            <p:nvPr/>
          </p:nvSpPr>
          <p:spPr>
            <a:xfrm>
              <a:off x="7400" y="3710"/>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s_sbc_mock</a:t>
              </a:r>
              <a:endParaRPr lang="en-US" sz="1100"/>
            </a:p>
          </p:txBody>
        </p:sp>
        <p:sp>
          <p:nvSpPr>
            <p:cNvPr id="17" name="AutoShape 17"/>
            <p:cNvSpPr/>
            <p:nvPr/>
          </p:nvSpPr>
          <p:spPr>
            <a:xfrm>
              <a:off x="7400" y="419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s_sbc_mock.main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15060 - UAC side</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UDP 15061 - UAS side</a:t>
              </a:r>
              <a:endParaRPr lang="en-US" sz="1100" b="0" i="0" u="none" strike="noStrike">
                <a:solidFill>
                  <a:srgbClr val="536174"/>
                </a:solidFill>
                <a:latin typeface="Inter"/>
                <a:ea typeface="Inter"/>
                <a:cs typeface="Inter"/>
                <a:sym typeface="Inter"/>
              </a:endParaRPr>
            </a:p>
          </p:txBody>
        </p:sp>
        <p:sp>
          <p:nvSpPr>
            <p:cNvPr id="18" name="AutoShape 18"/>
            <p:cNvSpPr/>
            <p:nvPr/>
          </p:nvSpPr>
          <p:spPr>
            <a:xfrm>
              <a:off x="7300" y="5560"/>
              <a:ext cx="4400" cy="1774"/>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S-CSCF trigger</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core network</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Same SIP stack as AS</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Configurable via .env</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29" name="组合 28"/>
          <p:cNvGrpSpPr/>
          <p:nvPr/>
        </p:nvGrpSpPr>
        <p:grpSpPr>
          <a:xfrm>
            <a:off x="7682865" y="1881505"/>
            <a:ext cx="2921000" cy="2842260"/>
            <a:chOff x="12600" y="3100"/>
            <a:chExt cx="4600" cy="4476"/>
          </a:xfrm>
        </p:grpSpPr>
        <p:sp>
          <p:nvSpPr>
            <p:cNvPr id="19" name="AutoShape 19"/>
            <p:cNvSpPr/>
            <p:nvPr/>
          </p:nvSpPr>
          <p:spPr>
            <a:xfrm>
              <a:off x="12600" y="3200"/>
              <a:ext cx="3851"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20" name="AutoShape 20"/>
            <p:cNvSpPr/>
            <p:nvPr/>
          </p:nvSpPr>
          <p:spPr>
            <a:xfrm>
              <a:off x="12800" y="3100"/>
              <a:ext cx="26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12800" y="3100"/>
              <a:ext cx="26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console</a:t>
              </a:r>
              <a:endParaRPr lang="en-US" sz="1100"/>
            </a:p>
          </p:txBody>
        </p:sp>
        <p:sp>
          <p:nvSpPr>
            <p:cNvPr id="22" name="AutoShape 22"/>
            <p:cNvSpPr/>
            <p:nvPr/>
          </p:nvSpPr>
          <p:spPr>
            <a:xfrm>
              <a:off x="12800" y="3654"/>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console_app</a:t>
              </a:r>
              <a:endParaRPr lang="en-US" sz="1100"/>
            </a:p>
          </p:txBody>
        </p:sp>
        <p:sp>
          <p:nvSpPr>
            <p:cNvPr id="23" name="AutoShape 23"/>
            <p:cNvSpPr/>
            <p:nvPr/>
          </p:nvSpPr>
          <p:spPr>
            <a:xfrm>
              <a:off x="12800" y="4248"/>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console_app.main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TCP 8000 - Web UI</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HTTP proxy to :8080</a:t>
              </a:r>
              <a:endParaRPr lang="en-US" sz="1100" b="0" i="0" u="none" strike="noStrike">
                <a:solidFill>
                  <a:srgbClr val="536174"/>
                </a:solidFill>
                <a:latin typeface="Inter"/>
                <a:ea typeface="Inter"/>
                <a:cs typeface="Inter"/>
                <a:sym typeface="Inter"/>
              </a:endParaRPr>
            </a:p>
          </p:txBody>
        </p:sp>
        <p:sp>
          <p:nvSpPr>
            <p:cNvPr id="24" name="AutoShape 24"/>
            <p:cNvSpPr/>
            <p:nvPr/>
          </p:nvSpPr>
          <p:spPr>
            <a:xfrm>
              <a:off x="12800" y="5562"/>
              <a:ext cx="2600" cy="1878"/>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dashboard</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 view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03 / SIGNALLING FLOW</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 INVITE relayed after number translation</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016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UAC (S-CSCF)</a:t>
            </a:r>
            <a:endParaRPr lang="en-US" sz="1100"/>
          </a:p>
        </p:txBody>
      </p:sp>
      <p:cxnSp>
        <p:nvCxnSpPr>
          <p:cNvPr id="6" name="Connector 6"/>
          <p:cNvCxnSpPr/>
          <p:nvPr/>
        </p:nvCxnSpPr>
        <p:spPr>
          <a:xfrm rot="5387027">
            <a:off x="476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sp>
        <p:nvSpPr>
          <p:cNvPr id="7" name="AutoShape 7"/>
          <p:cNvSpPr/>
          <p:nvPr/>
        </p:nvSpPr>
        <p:spPr>
          <a:xfrm>
            <a:off x="4953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Third-Party AS (B2BUA)</a:t>
            </a:r>
            <a:endParaRPr lang="en-US" sz="1100"/>
          </a:p>
        </p:txBody>
      </p:sp>
      <p:cxnSp>
        <p:nvCxnSpPr>
          <p:cNvPr id="8" name="Connector 8"/>
          <p:cNvCxnSpPr/>
          <p:nvPr/>
        </p:nvCxnSpPr>
        <p:spPr>
          <a:xfrm rot="5387027">
            <a:off x="4413250" y="3517912"/>
            <a:ext cx="33655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sp>
        <p:nvSpPr>
          <p:cNvPr id="9" name="AutoShape 9"/>
          <p:cNvSpPr/>
          <p:nvPr/>
        </p:nvSpPr>
        <p:spPr>
          <a:xfrm>
            <a:off x="8890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UAS (Core Network)</a:t>
            </a:r>
            <a:endParaRPr lang="en-US" sz="1100"/>
          </a:p>
        </p:txBody>
      </p:sp>
      <p:cxnSp>
        <p:nvCxnSpPr>
          <p:cNvPr id="10" name="Connector 10"/>
          <p:cNvCxnSpPr/>
          <p:nvPr/>
        </p:nvCxnSpPr>
        <p:spPr>
          <a:xfrm rot="5387027">
            <a:off x="8350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cxnSp>
        <p:nvCxnSpPr>
          <p:cNvPr id="11" name="Connector 11"/>
          <p:cNvCxnSpPr/>
          <p:nvPr/>
        </p:nvCxnSpPr>
        <p:spPr>
          <a:xfrm rot="-11161">
            <a:off x="2159010" y="2089150"/>
            <a:ext cx="39116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2" name="AutoShape 12"/>
          <p:cNvSpPr/>
          <p:nvPr/>
        </p:nvSpPr>
        <p:spPr>
          <a:xfrm>
            <a:off x="2540000" y="19050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sip:+8613800138000@as</a:t>
            </a:r>
            <a:endParaRPr lang="en-US" sz="1100"/>
          </a:p>
        </p:txBody>
      </p:sp>
      <p:sp>
        <p:nvSpPr>
          <p:cNvPr id="13" name="AutoShape 13"/>
          <p:cNvSpPr/>
          <p:nvPr/>
        </p:nvSpPr>
        <p:spPr>
          <a:xfrm>
            <a:off x="6223000" y="2260600"/>
            <a:ext cx="279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000" b="0" i="0" u="none" strike="noStrike">
                <a:solidFill>
                  <a:srgbClr val="2563EB"/>
                </a:solidFill>
                <a:latin typeface="Inter"/>
                <a:ea typeface="Inter"/>
                <a:cs typeface="Inter"/>
                <a:sym typeface="Inter"/>
              </a:rPr>
              <a:t>R-MOB-CM-40 match -&gt; 013800138000</a:t>
            </a:r>
            <a:endParaRPr lang="en-US" sz="1100"/>
          </a:p>
        </p:txBody>
      </p:sp>
      <p:cxnSp>
        <p:nvCxnSpPr>
          <p:cNvPr id="14" name="Connector 14"/>
          <p:cNvCxnSpPr/>
          <p:nvPr/>
        </p:nvCxnSpPr>
        <p:spPr>
          <a:xfrm rot="-11234">
            <a:off x="6121410" y="2660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5" name="AutoShape 15"/>
          <p:cNvSpPr/>
          <p:nvPr/>
        </p:nvSpPr>
        <p:spPr>
          <a:xfrm>
            <a:off x="6477000" y="24765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sip:013800138000@s-sbc</a:t>
            </a:r>
            <a:endParaRPr lang="en-US" sz="1100"/>
          </a:p>
        </p:txBody>
      </p:sp>
      <p:cxnSp>
        <p:nvCxnSpPr>
          <p:cNvPr id="16" name="Connector 16"/>
          <p:cNvCxnSpPr/>
          <p:nvPr/>
        </p:nvCxnSpPr>
        <p:spPr>
          <a:xfrm rot="10788765">
            <a:off x="6121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7" name="AutoShape 17"/>
          <p:cNvSpPr/>
          <p:nvPr/>
        </p:nvSpPr>
        <p:spPr>
          <a:xfrm>
            <a:off x="736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18" name="Connector 18"/>
          <p:cNvCxnSpPr/>
          <p:nvPr/>
        </p:nvCxnSpPr>
        <p:spPr>
          <a:xfrm rot="10788765">
            <a:off x="2184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9" name="AutoShape 19"/>
          <p:cNvSpPr/>
          <p:nvPr/>
        </p:nvSpPr>
        <p:spPr>
          <a:xfrm>
            <a:off x="355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20" name="Connector 20"/>
          <p:cNvCxnSpPr/>
          <p:nvPr/>
        </p:nvCxnSpPr>
        <p:spPr>
          <a:xfrm rot="10788765">
            <a:off x="6121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1" name="AutoShape 21"/>
          <p:cNvSpPr/>
          <p:nvPr/>
        </p:nvSpPr>
        <p:spPr>
          <a:xfrm>
            <a:off x="736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2" name="Connector 22"/>
          <p:cNvCxnSpPr/>
          <p:nvPr/>
        </p:nvCxnSpPr>
        <p:spPr>
          <a:xfrm rot="10788765">
            <a:off x="2184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3" name="AutoShape 23"/>
          <p:cNvSpPr/>
          <p:nvPr/>
        </p:nvSpPr>
        <p:spPr>
          <a:xfrm>
            <a:off x="355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4" name="Connector 24"/>
          <p:cNvCxnSpPr/>
          <p:nvPr/>
        </p:nvCxnSpPr>
        <p:spPr>
          <a:xfrm rot="10788765">
            <a:off x="6121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5" name="AutoShape 25"/>
          <p:cNvSpPr/>
          <p:nvPr/>
        </p:nvSpPr>
        <p:spPr>
          <a:xfrm>
            <a:off x="736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6" name="Connector 26"/>
          <p:cNvCxnSpPr/>
          <p:nvPr/>
        </p:nvCxnSpPr>
        <p:spPr>
          <a:xfrm rot="10788765">
            <a:off x="2184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7" name="AutoShape 27"/>
          <p:cNvSpPr/>
          <p:nvPr/>
        </p:nvSpPr>
        <p:spPr>
          <a:xfrm>
            <a:off x="355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8" name="Connector 28"/>
          <p:cNvCxnSpPr/>
          <p:nvPr/>
        </p:nvCxnSpPr>
        <p:spPr>
          <a:xfrm rot="-11234">
            <a:off x="2184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9" name="AutoShape 29"/>
          <p:cNvSpPr/>
          <p:nvPr/>
        </p:nvSpPr>
        <p:spPr>
          <a:xfrm>
            <a:off x="381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cxnSp>
        <p:nvCxnSpPr>
          <p:cNvPr id="30" name="Connector 30"/>
          <p:cNvCxnSpPr/>
          <p:nvPr/>
        </p:nvCxnSpPr>
        <p:spPr>
          <a:xfrm rot="-11234">
            <a:off x="6121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31" name="AutoShape 31"/>
          <p:cNvSpPr/>
          <p:nvPr/>
        </p:nvSpPr>
        <p:spPr>
          <a:xfrm>
            <a:off x="762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sp>
        <p:nvSpPr>
          <p:cNvPr id="32" name="AutoShape 32"/>
          <p:cNvSpPr/>
          <p:nvPr/>
        </p:nvSpPr>
        <p:spPr>
          <a:xfrm>
            <a:off x="762000" y="5334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 headers and SDP body pass through verbatim; only the Request-URI number is rewritten. The Call-ID links both legs for end-to-end tracing.</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04 / ROUTING ENGINE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Declarative YAML rules: data is policy, hot-reloaded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example (config/routing_rules.yaml)</a:t>
            </a:r>
            <a:endParaRPr lang="en-US" sz="1100"/>
          </a:p>
        </p:txBody>
      </p:sp>
      <p:sp>
        <p:nvSpPr>
          <p:cNvPr id="6" name="AutoShape 6"/>
          <p:cNvSpPr/>
          <p:nvPr/>
        </p:nvSpPr>
        <p:spPr>
          <a:xfrm>
            <a:off x="762000" y="1841500"/>
            <a:ext cx="5080000" cy="3683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968500"/>
            <a:ext cx="4699000" cy="3429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1" i="0" u="none" strike="noStrike">
                <a:solidFill>
                  <a:srgbClr val="94A3B8"/>
                </a:solidFill>
                <a:latin typeface="Roboto Mono"/>
                <a:ea typeface="Roboto Mono"/>
                <a:cs typeface="Roboto Mono"/>
                <a:sym typeface="Roboto Mono"/>
              </a:rPr>
              <a:t># Mobile number translation</a:t>
            </a:r>
            <a:endParaRPr lang="en-US" sz="1100"/>
          </a:p>
          <a:p>
            <a:pPr marL="0" indent="0" algn="l">
              <a:lnSpc>
                <a:spcPct val="133000"/>
              </a:lnSpc>
            </a:pPr>
            <a:r>
              <a:rPr lang="en-US" sz="1100" b="0" i="0" u="none" strike="noStrike">
                <a:solidFill>
                  <a:srgbClr val="BFD7FF"/>
                </a:solidFill>
                <a:latin typeface="Roboto Mono"/>
                <a:ea typeface="Roboto Mono"/>
                <a:cs typeface="Roboto Mono"/>
                <a:sym typeface="Roboto Mono"/>
              </a:rPr>
              <a:t>- rule_id: </a:t>
            </a:r>
            <a:r>
              <a:rPr lang="en-US" sz="1100" b="0" i="0" u="none" strike="noStrike">
                <a:solidFill>
                  <a:srgbClr val="86EFAC"/>
                </a:solidFill>
                <a:latin typeface="Roboto Mono"/>
                <a:ea typeface="Roboto Mono"/>
                <a:cs typeface="Roboto Mono"/>
                <a:sym typeface="Roboto Mono"/>
              </a:rPr>
              <a:t>R-MOB-CM-40</a:t>
            </a:r>
            <a:endParaRPr lang="en-US" sz="1100" b="0" i="0" u="none" strike="noStrike">
              <a:solidFill>
                <a:srgbClr val="86EFAC"/>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priority: </a:t>
            </a:r>
            <a:r>
              <a:rPr lang="en-US" sz="1100" b="0" i="0" u="none" strike="noStrike">
                <a:solidFill>
                  <a:srgbClr val="FFFFFF"/>
                </a:solidFill>
                <a:latin typeface="Roboto Mono"/>
                <a:ea typeface="Roboto Mono"/>
                <a:cs typeface="Roboto Mono"/>
                <a:sym typeface="Roboto Mono"/>
              </a:rPr>
              <a:t>100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match:</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called_prefixes:</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["+86134", "+86135", ...]</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number_format: </a:t>
            </a:r>
            <a:r>
              <a:rPr lang="en-US" sz="1100" b="0" i="0" u="none" strike="noStrike">
                <a:solidFill>
                  <a:srgbClr val="FFFFFF"/>
                </a:solidFill>
                <a:latin typeface="Roboto Mono"/>
                <a:ea typeface="Roboto Mono"/>
                <a:cs typeface="Roboto Mono"/>
                <a:sym typeface="Roboto Mono"/>
              </a:rPr>
              <a:t>e164</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action:</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kind: </a:t>
            </a:r>
            <a:r>
              <a:rPr lang="en-US" sz="1100" b="0" i="0" u="none" strike="noStrike">
                <a:solidFill>
                  <a:srgbClr val="FFFFFF"/>
                </a:solidFill>
                <a:latin typeface="Roboto Mono"/>
                <a:ea typeface="Roboto Mono"/>
                <a:cs typeface="Roboto Mono"/>
                <a:sym typeface="Roboto Mono"/>
              </a:rPr>
              <a:t>route</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translate: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to_format: </a:t>
            </a:r>
            <a:r>
              <a:rPr lang="en-US" sz="1100" b="0" i="0" u="none" strike="noStrike">
                <a:solidFill>
                  <a:srgbClr val="FFFFFF"/>
                </a:solidFill>
                <a:latin typeface="Roboto Mono"/>
                <a:ea typeface="Roboto Mono"/>
                <a:cs typeface="Roboto Mono"/>
                <a:sym typeface="Roboto Mono"/>
              </a:rPr>
              <a:t>national</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strip_prefix: </a:t>
            </a:r>
            <a:r>
              <a:rPr lang="en-US" sz="1100" b="0" i="0" u="none" strike="noStrike">
                <a:solidFill>
                  <a:srgbClr val="FFFFFF"/>
                </a:solidFill>
                <a:latin typeface="Roboto Mono"/>
                <a:ea typeface="Roboto Mono"/>
                <a:cs typeface="Roboto Mono"/>
                <a:sym typeface="Roboto Mono"/>
              </a:rPr>
              <a:t>"+86"</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prepend: </a:t>
            </a:r>
            <a:r>
              <a:rPr lang="en-US" sz="1100" b="0" i="0" u="none" strike="noStrike">
                <a:solidFill>
                  <a:srgbClr val="FFFFFF"/>
                </a:solidFill>
                <a:latin typeface="Roboto Mono"/>
                <a:ea typeface="Roboto Mono"/>
                <a:cs typeface="Roboto Mono"/>
                <a:sym typeface="Roboto Mono"/>
              </a:rPr>
              <a:t>"0"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next_hops: [s-sbc-primary, s-sbc-failover]</a:t>
            </a:r>
            <a:endParaRPr lang="en-US" sz="1100" b="0" i="0" u="none" strike="noStrike">
              <a:solidFill>
                <a:srgbClr val="BFD7FF"/>
              </a:solidFill>
              <a:latin typeface="Roboto Mono"/>
              <a:ea typeface="Roboto Mono"/>
              <a:cs typeface="Roboto Mono"/>
              <a:sym typeface="Roboto Mono"/>
            </a:endParaRPr>
          </a:p>
        </p:txBody>
      </p:sp>
      <p:sp>
        <p:nvSpPr>
          <p:cNvPr id="8" name="AutoShape 8"/>
          <p:cNvSpPr/>
          <p:nvPr/>
        </p:nvSpPr>
        <p:spPr>
          <a:xfrm>
            <a:off x="6350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set overview</a:t>
            </a:r>
            <a:endParaRPr lang="en-US" sz="1100"/>
          </a:p>
        </p:txBody>
      </p:sp>
      <p:sp>
        <p:nvSpPr>
          <p:cNvPr id="9" name="AutoShape 9"/>
          <p:cNvSpPr/>
          <p:nvPr/>
        </p:nvSpPr>
        <p:spPr>
          <a:xfrm>
            <a:off x="635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17</a:t>
            </a:r>
            <a:endParaRPr lang="en-US" sz="1100"/>
          </a:p>
        </p:txBody>
      </p:sp>
      <p:sp>
        <p:nvSpPr>
          <p:cNvPr id="10" name="AutoShape 10"/>
          <p:cNvSpPr/>
          <p:nvPr/>
        </p:nvSpPr>
        <p:spPr>
          <a:xfrm>
            <a:off x="6350000" y="2540000"/>
            <a:ext cx="1524000" cy="228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rules</a:t>
            </a:r>
            <a:endParaRPr lang="en-US" sz="1100"/>
          </a:p>
        </p:txBody>
      </p:sp>
      <p:sp>
        <p:nvSpPr>
          <p:cNvPr id="11" name="AutoShape 11"/>
          <p:cNvSpPr/>
          <p:nvPr/>
        </p:nvSpPr>
        <p:spPr>
          <a:xfrm>
            <a:off x="8255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6</a:t>
            </a:r>
            <a:endParaRPr lang="en-US" sz="1100"/>
          </a:p>
        </p:txBody>
      </p:sp>
      <p:sp>
        <p:nvSpPr>
          <p:cNvPr id="12" name="AutoShape 12"/>
          <p:cNvSpPr/>
          <p:nvPr/>
        </p:nvSpPr>
        <p:spPr>
          <a:xfrm>
            <a:off x="8255000" y="2514600"/>
            <a:ext cx="177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 hops (primary + backup)</a:t>
            </a:r>
            <a:endParaRPr lang="en-US" sz="1100"/>
          </a:p>
        </p:txBody>
      </p:sp>
      <p:sp>
        <p:nvSpPr>
          <p:cNvPr id="13" name="AutoShape 13"/>
          <p:cNvSpPr/>
          <p:nvPr/>
        </p:nvSpPr>
        <p:spPr>
          <a:xfrm>
            <a:off x="1016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4</a:t>
            </a:r>
            <a:endParaRPr lang="en-US" sz="1100"/>
          </a:p>
        </p:txBody>
      </p:sp>
      <p:sp>
        <p:nvSpPr>
          <p:cNvPr id="14" name="AutoShape 14"/>
          <p:cNvSpPr/>
          <p:nvPr/>
        </p:nvSpPr>
        <p:spPr>
          <a:xfrm>
            <a:off x="10160000" y="25146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formats</a:t>
            </a:r>
            <a:endParaRPr lang="en-US" sz="1100"/>
          </a:p>
        </p:txBody>
      </p:sp>
      <p:cxnSp>
        <p:nvCxnSpPr>
          <p:cNvPr id="15" name="Connector 15"/>
          <p:cNvCxnSpPr/>
          <p:nvPr/>
        </p:nvCxnSpPr>
        <p:spPr>
          <a:xfrm rot="-8594">
            <a:off x="6350008" y="2978150"/>
            <a:ext cx="5080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6" name="AutoShape 16"/>
          <p:cNvSpPr/>
          <p:nvPr/>
        </p:nvSpPr>
        <p:spPr>
          <a:xfrm>
            <a:off x="6350000" y="3175000"/>
            <a:ext cx="50800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Priority match</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rules evaluated by priority ascending, first match wins</a:t>
            </a:r>
            <a:endParaRPr lang="en-US" sz="1100"/>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Exact + prefix</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called_numbers exact or called_prefixes prefix</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Format-aware</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filter by e164 / national / short_code / international</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Hot reload</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detects file changes; bad config falls back to old rules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Failover</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next_hops list tried in order on failure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05 / NUMBER TRANSLATION</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number formats interconverted: E.164, national, short, intl</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graphicFrame>
        <p:nvGraphicFramePr>
          <p:cNvPr id="5" name="Table 5"/>
          <p:cNvGraphicFramePr>
            <a:graphicFrameLocks noGrp="1"/>
          </p:cNvGraphicFramePr>
          <p:nvPr/>
        </p:nvGraphicFramePr>
        <p:xfrm>
          <a:off x="881380" y="1866900"/>
          <a:ext cx="10668000" cy="3522980"/>
        </p:xfrm>
        <a:graphic>
          <a:graphicData uri="http://schemas.openxmlformats.org/drawingml/2006/table">
            <a:tbl>
              <a:tblPr>
                <a:effectLst/>
              </a:tblPr>
              <a:tblGrid>
                <a:gridCol w="1651000"/>
                <a:gridCol w="2794000"/>
                <a:gridCol w="2794000"/>
                <a:gridCol w="3429000"/>
              </a:tblGrid>
              <a:tr h="390525">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Scenario</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Inbound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Outbound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Rule / logic</a:t>
                      </a:r>
                      <a:endParaRPr lang="en-US" sz="1100"/>
                    </a:p>
                  </a:txBody>
                  <a:tcPr marL="101600" marR="101600" marT="101600" marB="101600" anchor="t" anchorCtr="0">
                    <a:lnL>
                      <a:noFill/>
                    </a:lnL>
                    <a:lnR>
                      <a:noFill/>
                    </a:lnR>
                    <a:lnT>
                      <a:noFill/>
                    </a:lnT>
                    <a:lnB>
                      <a:noFill/>
                    </a:lnB>
                    <a:solidFill>
                      <a:srgbClr val="0D1326">
                        <a:alpha val="100000"/>
                      </a:srgbClr>
                    </a:solid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Mobile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R-MOB-CM-40 -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Shanghai fixed</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R-FIX-SH-60 -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PBX extension</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+86216186001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R-PBX-30 - prefix +8621618</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International</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0012125550100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R-INTL-80 - strip 00, prepend +</a:t>
                      </a:r>
                      <a:endParaRPr lang="en-US" sz="1100"/>
                    </a:p>
                  </a:txBody>
                  <a:tcPr marL="101600" marR="101600" marT="101600" marB="101600" anchor="t" anchorCtr="0">
                    <a:lnL>
                      <a:noFill/>
                    </a:lnL>
                    <a:lnR>
                      <a:noFill/>
                    </a:lnR>
                    <a:lnT>
                      <a:noFill/>
                    </a:lnT>
                    <a:lnB>
                      <a:noFill/>
                    </a:lnB>
                    <a:no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Emergency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R-EMG-01 - pass through unchanged</a:t>
                      </a:r>
                      <a:endParaRPr lang="en-US" sz="1100"/>
                    </a:p>
                  </a:txBody>
                  <a:tcPr marL="101600" marR="101600" marT="101600" marB="101600" anchor="t" anchorCtr="0">
                    <a:lnL>
                      <a:noFill/>
                    </a:lnL>
                    <a:lnR>
                      <a:noFill/>
                    </a:lnR>
                    <a:lnT>
                      <a:noFill/>
                    </a:lnT>
                    <a:lnB>
                      <a:noFill/>
                    </a:lnB>
                    <a:noFill/>
                  </a:tcPr>
                </a:tc>
              </a:tr>
              <a:tr h="51435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Blocked service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+861681234567</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C9302C"/>
                          </a:solidFill>
                          <a:latin typeface="Inter"/>
                          <a:ea typeface="Inter"/>
                          <a:cs typeface="Inter"/>
                          <a:sym typeface="Inter"/>
                        </a:rPr>
                        <a:t>603 Decline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R-BLOCK-90 - policy rejection</a:t>
                      </a:r>
                      <a:endParaRPr lang="en-US" sz="1100"/>
                    </a:p>
                  </a:txBody>
                  <a:tcPr marL="101600" marR="101600" marT="101600" marB="101600" anchor="t" anchorCtr="0">
                    <a:lnL>
                      <a:noFill/>
                    </a:lnL>
                    <a:lnR>
                      <a:noFill/>
                    </a:lnR>
                    <a:lnT>
                      <a:noFill/>
                    </a:lnT>
                    <a:lnB>
                      <a:noFill/>
                    </a:lnB>
                    <a:no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06 / ERROR HANDLING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error branches with explicit SIP responses</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1016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404</a:t>
            </a:r>
            <a:endParaRPr lang="en-US" sz="1100"/>
          </a:p>
        </p:txBody>
      </p:sp>
      <p:sp>
        <p:nvSpPr>
          <p:cNvPr id="7" name="AutoShape 7"/>
          <p:cNvSpPr/>
          <p:nvPr/>
        </p:nvSpPr>
        <p:spPr>
          <a:xfrm>
            <a:off x="1016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No matching rule</a:t>
            </a:r>
            <a:endParaRPr lang="en-US" sz="1100"/>
          </a:p>
        </p:txBody>
      </p:sp>
      <p:cxnSp>
        <p:nvCxnSpPr>
          <p:cNvPr id="8" name="Connector 8"/>
          <p:cNvCxnSpPr/>
          <p:nvPr/>
        </p:nvCxnSpPr>
        <p:spPr>
          <a:xfrm rot="-21485">
            <a:off x="1016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9" name="AutoShape 9"/>
          <p:cNvSpPr/>
          <p:nvPr/>
        </p:nvSpPr>
        <p:spPr>
          <a:xfrm>
            <a:off x="1016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Callee matches no enabled rule</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+9991234567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3683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937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603</a:t>
            </a:r>
            <a:endParaRPr lang="en-US" sz="1100"/>
          </a:p>
        </p:txBody>
      </p:sp>
      <p:sp>
        <p:nvSpPr>
          <p:cNvPr id="12" name="AutoShape 12"/>
          <p:cNvSpPr/>
          <p:nvPr/>
        </p:nvSpPr>
        <p:spPr>
          <a:xfrm>
            <a:off x="3937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Policy rejection</a:t>
            </a:r>
            <a:endParaRPr lang="en-US" sz="1100"/>
          </a:p>
        </p:txBody>
      </p:sp>
      <p:cxnSp>
        <p:nvCxnSpPr>
          <p:cNvPr id="13" name="Connector 13"/>
          <p:cNvCxnSpPr/>
          <p:nvPr/>
        </p:nvCxnSpPr>
        <p:spPr>
          <a:xfrm rot="-21485">
            <a:off x="3937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4" name="AutoShape 14"/>
          <p:cNvSpPr/>
          <p:nvPr/>
        </p:nvSpPr>
        <p:spPr>
          <a:xfrm>
            <a:off x="3937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action = reject (blocked services)</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AS-ROUTE-002</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+861681234567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604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858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D97706"/>
                </a:solidFill>
                <a:latin typeface="Inter"/>
                <a:ea typeface="Inter"/>
                <a:cs typeface="Inter"/>
                <a:sym typeface="Inter"/>
              </a:rPr>
              <a:t>CANCEL</a:t>
            </a:r>
            <a:endParaRPr lang="en-US" sz="1100"/>
          </a:p>
        </p:txBody>
      </p:sp>
      <p:sp>
        <p:nvSpPr>
          <p:cNvPr id="17" name="AutoShape 17"/>
          <p:cNvSpPr/>
          <p:nvPr/>
        </p:nvSpPr>
        <p:spPr>
          <a:xfrm>
            <a:off x="6858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Caller cancels</a:t>
            </a:r>
            <a:endParaRPr lang="en-US" sz="1100"/>
          </a:p>
        </p:txBody>
      </p:sp>
      <p:cxnSp>
        <p:nvCxnSpPr>
          <p:cNvPr id="18" name="Connector 18"/>
          <p:cNvCxnSpPr/>
          <p:nvPr/>
        </p:nvCxnSpPr>
        <p:spPr>
          <a:xfrm rot="-21485">
            <a:off x="6858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9" name="AutoShape 19"/>
          <p:cNvSpPr/>
          <p:nvPr/>
        </p:nvSpPr>
        <p:spPr>
          <a:xfrm>
            <a:off x="6858000" y="2819400"/>
            <a:ext cx="2032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Caller sends CANCEL before answer</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Response: 487 Request Terminated</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Release upstream leg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9525000" y="1714500"/>
            <a:ext cx="1905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715500" y="1905000"/>
            <a:ext cx="1524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403</a:t>
            </a:r>
            <a:endParaRPr lang="en-US" sz="1100"/>
          </a:p>
        </p:txBody>
      </p:sp>
      <p:sp>
        <p:nvSpPr>
          <p:cNvPr id="22" name="AutoShape 22"/>
          <p:cNvSpPr/>
          <p:nvPr/>
        </p:nvSpPr>
        <p:spPr>
          <a:xfrm>
            <a:off x="9715500" y="2349500"/>
            <a:ext cx="152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Unknown peer</a:t>
            </a:r>
            <a:endParaRPr lang="en-US" sz="1100"/>
          </a:p>
        </p:txBody>
      </p:sp>
      <p:cxnSp>
        <p:nvCxnSpPr>
          <p:cNvPr id="23" name="Connector 23"/>
          <p:cNvCxnSpPr/>
          <p:nvPr/>
        </p:nvCxnSpPr>
        <p:spPr>
          <a:xfrm rot="-28647">
            <a:off x="9715526" y="2686050"/>
            <a:ext cx="1524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4" name="AutoShape 24"/>
          <p:cNvSpPr/>
          <p:nvPr/>
        </p:nvSpPr>
        <p:spPr>
          <a:xfrm>
            <a:off x="9715500" y="2819400"/>
            <a:ext cx="1524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Source not in whitelist</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AS-PEER-001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4092">
            <a:off x="762004" y="4438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6" name="AutoShape 26"/>
          <p:cNvSpPr/>
          <p:nvPr/>
        </p:nvSpPr>
        <p:spPr>
          <a:xfrm>
            <a:off x="762000" y="4635500"/>
            <a:ext cx="10668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Unified error code system</a:t>
            </a:r>
            <a:endParaRPr lang="en-US" sz="1100"/>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All internal errors use the </a:t>
            </a:r>
            <a:r>
              <a:rPr lang="en-US" sz="1200" b="0" i="0" u="none" strike="noStrike">
                <a:solidFill>
                  <a:srgbClr val="536174"/>
                </a:solidFill>
                <a:latin typeface="Inter"/>
                <a:ea typeface="Inter"/>
                <a:cs typeface="Inter"/>
                <a:sym typeface="Inter"/>
              </a:rPr>
              <a:t>AS-XXX-NNN</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format, mapped to SIP status codes in errors.py. Every error has structured logging fields and an acceptance test.</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Next-hop failover: when the primary next hop does not respond within 3 seconds, the backup is tried automatically - transparent to the caller.</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07 / OBSERVABILITY</a:t>
            </a:r>
            <a:endParaRPr lang="en-US" sz="1100"/>
          </a:p>
        </p:txBody>
      </p:sp>
      <p:sp>
        <p:nvSpPr>
          <p:cNvPr id="3" name="AutoShape 3"/>
          <p:cNvSpPr/>
          <p:nvPr/>
        </p:nvSpPr>
        <p:spPr>
          <a:xfrm>
            <a:off x="762000" y="762000"/>
            <a:ext cx="10922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Carrier-grade observability: structured logs, Call-ID tracing</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Structured logging &amp; end-to-end tracing</a:t>
            </a:r>
            <a:endParaRPr lang="en-US" sz="1100"/>
          </a:p>
        </p:txBody>
      </p:sp>
      <p:sp>
        <p:nvSpPr>
          <p:cNvPr id="6" name="AutoShape 6"/>
          <p:cNvSpPr/>
          <p:nvPr/>
        </p:nvSpPr>
        <p:spPr>
          <a:xfrm>
            <a:off x="762000" y="1968500"/>
            <a:ext cx="5080000" cy="2540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2095500"/>
            <a:ext cx="4699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94A3B8"/>
                </a:solidFill>
                <a:latin typeface="Roboto Mono"/>
                <a:ea typeface="Roboto Mono"/>
                <a:cs typeface="Roboto Mono"/>
                <a:sym typeface="Roboto Mono"/>
              </a:rPr>
              <a:t>{</a:t>
            </a:r>
            <a:endParaRPr lang="en-US" sz="1100"/>
          </a:p>
          <a:p>
            <a:pPr marL="0" indent="0" algn="l">
              <a:lnSpc>
                <a:spcPct val="133000"/>
              </a:lnSpc>
            </a:pPr>
            <a:r>
              <a:rPr lang="en-US" sz="1100" b="0" i="0" u="none" strike="noStrike">
                <a:solidFill>
                  <a:srgbClr val="86EFAC"/>
                </a:solidFill>
                <a:latin typeface="Roboto Mono"/>
                <a:ea typeface="Roboto Mono"/>
                <a:cs typeface="Roboto Mono"/>
                <a:sym typeface="Roboto Mono"/>
              </a:rPr>
              <a:t>"timestamp"</a:t>
            </a:r>
            <a:r>
              <a:rPr lang="en-US" sz="1100" b="0" i="0" u="none" strike="noStrike">
                <a:solidFill>
                  <a:srgbClr val="BFD7FF"/>
                </a:solidFill>
                <a:latin typeface="Roboto Mono"/>
                <a:ea typeface="Roboto Mono"/>
                <a:cs typeface="Roboto Mono"/>
                <a:sym typeface="Roboto Mono"/>
              </a:rPr>
              <a:t>: "2026-09-16T10:23:41Z",</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"level"</a:t>
            </a:r>
            <a:r>
              <a:rPr lang="en-US" sz="1100" b="0" i="0" u="none" strike="noStrike">
                <a:solidFill>
                  <a:srgbClr val="BFD7FF"/>
                </a:solidFill>
                <a:latin typeface="Roboto Mono"/>
                <a:ea typeface="Roboto Mono"/>
                <a:cs typeface="Roboto Mono"/>
                <a:sym typeface="Roboto Mono"/>
              </a:rPr>
              <a:t>: "INFO",</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"call_id"</a:t>
            </a:r>
            <a:r>
              <a:rPr lang="en-US" sz="1100" b="0" i="0" u="none" strike="noStrike">
                <a:solidFill>
                  <a:srgbClr val="BFD7FF"/>
                </a:solidFill>
                <a:latin typeface="Roboto Mono"/>
                <a:ea typeface="Roboto Mono"/>
                <a:cs typeface="Roboto Mono"/>
                <a:sym typeface="Roboto Mono"/>
              </a:rPr>
              <a:t>: "call-001@office.example",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"direction"</a:t>
            </a:r>
            <a:r>
              <a:rPr lang="en-US" sz="1100" b="0" i="0" u="none" strike="noStrike">
                <a:solidFill>
                  <a:srgbClr val="BFD7FF"/>
                </a:solidFill>
                <a:latin typeface="Roboto Mono"/>
                <a:ea typeface="Roboto Mono"/>
                <a:cs typeface="Roboto Mono"/>
                <a:sym typeface="Roboto Mono"/>
              </a:rPr>
              <a:t>: "inbound",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"peer"</a:t>
            </a:r>
            <a:r>
              <a:rPr lang="en-US" sz="1100" b="0" i="0" u="none" strike="noStrike">
                <a:solidFill>
                  <a:srgbClr val="BFD7FF"/>
                </a:solidFill>
                <a:latin typeface="Roboto Mono"/>
                <a:ea typeface="Roboto Mono"/>
                <a:cs typeface="Roboto Mono"/>
                <a:sym typeface="Roboto Mono"/>
              </a:rPr>
              <a:t>: "127.0.0.1:15060",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"rule_id"</a:t>
            </a:r>
            <a:r>
              <a:rPr lang="en-US" sz="1100" b="0" i="0" u="none" strike="noStrike">
                <a:solidFill>
                  <a:srgbClr val="BFD7FF"/>
                </a:solidFill>
                <a:latin typeface="Roboto Mono"/>
                <a:ea typeface="Roboto Mono"/>
                <a:cs typeface="Roboto Mono"/>
                <a:sym typeface="Roboto Mono"/>
              </a:rPr>
              <a:t>: "R-MOB-CM-40",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"event"</a:t>
            </a:r>
            <a:r>
              <a:rPr lang="en-US" sz="1100" b="0" i="0" u="none" strike="noStrike">
                <a:solidFill>
                  <a:srgbClr val="BFD7FF"/>
                </a:solidFill>
                <a:latin typeface="Roboto Mono"/>
                <a:ea typeface="Roboto Mono"/>
                <a:cs typeface="Roboto Mono"/>
                <a:sym typeface="Roboto Mono"/>
              </a:rPr>
              <a:t>: "call_relayed"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94A3B8"/>
                </a:solidFill>
                <a:latin typeface="Roboto Mono"/>
                <a:ea typeface="Roboto Mono"/>
                <a:cs typeface="Roboto Mono"/>
                <a:sym typeface="Roboto Mono"/>
              </a:rPr>
              <a:t>}</a:t>
            </a:r>
            <a:endParaRPr lang="en-US" sz="1100" b="0" i="0" u="none" strike="noStrike">
              <a:solidFill>
                <a:srgbClr val="94A3B8"/>
              </a:solidFill>
              <a:latin typeface="Roboto Mono"/>
              <a:ea typeface="Roboto Mono"/>
              <a:cs typeface="Roboto Mono"/>
              <a:sym typeface="Roboto Mono"/>
            </a:endParaRPr>
          </a:p>
        </p:txBody>
      </p:sp>
      <p:sp>
        <p:nvSpPr>
          <p:cNvPr id="8" name="AutoShape 8"/>
          <p:cNvSpPr/>
          <p:nvPr/>
        </p:nvSpPr>
        <p:spPr>
          <a:xfrm>
            <a:off x="762000" y="4699000"/>
            <a:ext cx="5080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Every log line carries the Call-ID, linking both legs of a call. Built-in counters cover total calls, disposition breakdown, error code distribution, rule hit distribution, and peer status.</a:t>
            </a:r>
            <a:endParaRPr lang="en-US" sz="1100"/>
          </a:p>
        </p:txBody>
      </p:sp>
      <p:sp>
        <p:nvSpPr>
          <p:cNvPr id="9" name="AutoShape 9"/>
          <p:cNvSpPr/>
          <p:nvPr/>
        </p:nvSpPr>
        <p:spPr>
          <a:xfrm>
            <a:off x="6350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Ops console (separate process)</a:t>
            </a:r>
            <a:endParaRPr lang="en-US" sz="1100"/>
          </a:p>
        </p:txBody>
      </p:sp>
      <p:sp>
        <p:nvSpPr>
          <p:cNvPr id="10" name="AutoShape 10"/>
          <p:cNvSpPr/>
          <p:nvPr/>
        </p:nvSpPr>
        <p:spPr>
          <a:xfrm>
            <a:off x="6350000" y="2032000"/>
            <a:ext cx="5080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direction color-coded, Call-ID filter, payload expansion</a:t>
            </a:r>
            <a:endParaRPr lang="en-US" sz="1100"/>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hit highlight</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which rule each call matched, at a glance</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 volume, disposition, rule hit bar charts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real-time call path from S-SBC to next hop</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theme</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pure HTML/CSS/JS, zero frontend dependencies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WebSocket push</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of TraceRecorder for incremental events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08 / TECH &amp; ADR</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Six architecture decision records lock the tech stack</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381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Tech stack (locked)</a:t>
            </a:r>
            <a:endParaRPr lang="en-US" sz="1100"/>
          </a:p>
        </p:txBody>
      </p:sp>
      <p:graphicFrame>
        <p:nvGraphicFramePr>
          <p:cNvPr id="6" name="Table 6"/>
          <p:cNvGraphicFramePr>
            <a:graphicFrameLocks noGrp="1"/>
          </p:cNvGraphicFramePr>
          <p:nvPr/>
        </p:nvGraphicFramePr>
        <p:xfrm>
          <a:off x="762000" y="2032000"/>
          <a:ext cx="4826000" cy="2595880"/>
        </p:xfrm>
        <a:graphic>
          <a:graphicData uri="http://schemas.openxmlformats.org/drawingml/2006/table">
            <a:tbl>
              <a:tblPr>
                <a:effectLst/>
              </a:tblPr>
              <a:tblGrid>
                <a:gridCol w="1778000"/>
                <a:gridCol w="3048000"/>
              </a:tblGrid>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Language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Python 3.10</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SIP stack</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sippy 2.4.2 (RFC 3261)</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Web</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FastAPI + uvicorn</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Deps</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uv + uv.lock</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Quality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ruff - mypy - pytest</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Deploy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docker compose</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License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Apache-2.0</a:t>
                      </a:r>
                      <a:endParaRPr lang="en-US" sz="1100"/>
                    </a:p>
                  </a:txBody>
                  <a:tcPr marL="101600" marR="101600" marT="101600" marB="101600" anchor="t" anchorCtr="0">
                    <a:lnL>
                      <a:noFill/>
                    </a:lnL>
                    <a:lnR>
                      <a:noFill/>
                    </a:lnR>
                    <a:lnT>
                      <a:noFill/>
                    </a:lnT>
                    <a:lnB>
                      <a:noFill/>
                    </a:lnB>
                    <a:noFill/>
                  </a:tcPr>
                </a:tc>
              </a:tr>
            </a:tbl>
          </a:graphicData>
        </a:graphic>
      </p:graphicFrame>
      <p:sp>
        <p:nvSpPr>
          <p:cNvPr id="7" name="AutoShape 7"/>
          <p:cNvSpPr/>
          <p:nvPr/>
        </p:nvSpPr>
        <p:spPr>
          <a:xfrm>
            <a:off x="6223000" y="270891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Architecture decision records</a:t>
            </a:r>
            <a:endParaRPr lang="en-US" sz="1100"/>
          </a:p>
        </p:txBody>
      </p:sp>
      <p:sp>
        <p:nvSpPr>
          <p:cNvPr id="8" name="AutoShape 8"/>
          <p:cNvSpPr/>
          <p:nvPr/>
        </p:nvSpPr>
        <p:spPr>
          <a:xfrm>
            <a:off x="6223000" y="2032000"/>
            <a:ext cx="5207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ADR-0001</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sippy chosen as SIP stack and B2BUA framework</a:t>
            </a:r>
            <a:endParaRPr lang="en-US" sz="1100"/>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ADR-0002</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console as separate process, internal API</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ADR-0003</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UDP only (POC scope)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ADR-0004</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declarative YAML rules with hot reload</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ADR-0005</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Mock S-SBC on same SIP stack as AS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ADR-0006</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signalling plane only, no media</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09 / MILESTONES</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All M0-M4 milestones complete, v0.5.0 ready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143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M0</a:t>
            </a:r>
            <a:endParaRPr lang="en-US" sz="1100"/>
          </a:p>
        </p:txBody>
      </p:sp>
      <p:sp>
        <p:nvSpPr>
          <p:cNvPr id="7" name="AutoShape 7"/>
          <p:cNvSpPr/>
          <p:nvPr/>
        </p:nvSpPr>
        <p:spPr>
          <a:xfrm>
            <a:off x="762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Foundation</a:t>
            </a:r>
            <a:endParaRPr lang="en-US" sz="1100"/>
          </a:p>
        </p:txBody>
      </p:sp>
      <p:sp>
        <p:nvSpPr>
          <p:cNvPr id="8" name="AutoShape 8"/>
          <p:cNvSpPr/>
          <p:nvPr/>
        </p:nvSpPr>
        <p:spPr>
          <a:xfrm>
            <a:off x="698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skeleton - toolchain</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sippy validation - docs baseline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Sample routing data</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3111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2730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M1</a:t>
            </a:r>
            <a:endParaRPr lang="en-US" sz="1100"/>
          </a:p>
        </p:txBody>
      </p:sp>
      <p:sp>
        <p:nvSpPr>
          <p:cNvPr id="11" name="AutoShape 11"/>
          <p:cNvSpPr/>
          <p:nvPr/>
        </p:nvSpPr>
        <p:spPr>
          <a:xfrm>
            <a:off x="2730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Signalling path</a:t>
            </a:r>
            <a:endParaRPr lang="en-US" sz="1100"/>
          </a:p>
        </p:txBody>
      </p:sp>
      <p:sp>
        <p:nvSpPr>
          <p:cNvPr id="12" name="AutoShape 12"/>
          <p:cNvSpPr/>
          <p:nvPr/>
        </p:nvSpPr>
        <p:spPr>
          <a:xfrm>
            <a:off x="2667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Pass-through - structured logs</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 graceful shutdown</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5080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4699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M2</a:t>
            </a:r>
            <a:endParaRPr lang="en-US" sz="1100"/>
          </a:p>
        </p:txBody>
      </p:sp>
      <p:sp>
        <p:nvSpPr>
          <p:cNvPr id="15" name="AutoShape 15"/>
          <p:cNvSpPr/>
          <p:nvPr/>
        </p:nvSpPr>
        <p:spPr>
          <a:xfrm>
            <a:off x="4699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Number translation</a:t>
            </a:r>
            <a:endParaRPr lang="en-US" sz="1100"/>
          </a:p>
        </p:txBody>
      </p:sp>
      <p:sp>
        <p:nvSpPr>
          <p:cNvPr id="16" name="AutoShape 16"/>
          <p:cNvSpPr/>
          <p:nvPr/>
        </p:nvSpPr>
        <p:spPr>
          <a:xfrm>
            <a:off x="4635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engine - hot reload</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branches - failover</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code system</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7048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667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M3</a:t>
            </a:r>
            <a:endParaRPr lang="en-US" sz="1100"/>
          </a:p>
        </p:txBody>
      </p:sp>
      <p:sp>
        <p:nvSpPr>
          <p:cNvPr id="19" name="AutoShape 19"/>
          <p:cNvSpPr/>
          <p:nvPr/>
        </p:nvSpPr>
        <p:spPr>
          <a:xfrm>
            <a:off x="6667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Ops console</a:t>
            </a:r>
            <a:endParaRPr lang="en-US" sz="1100"/>
          </a:p>
        </p:txBody>
      </p:sp>
      <p:sp>
        <p:nvSpPr>
          <p:cNvPr id="20" name="AutoShape 20"/>
          <p:cNvSpPr/>
          <p:nvPr/>
        </p:nvSpPr>
        <p:spPr>
          <a:xfrm>
            <a:off x="6604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 WebSocket</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flow - topology view</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nvSpPr>
        <p:spPr>
          <a:xfrm>
            <a:off x="9017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8636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M4</a:t>
            </a:r>
            <a:endParaRPr lang="en-US" sz="1100"/>
          </a:p>
        </p:txBody>
      </p:sp>
      <p:sp>
        <p:nvSpPr>
          <p:cNvPr id="23" name="AutoShape 23"/>
          <p:cNvSpPr/>
          <p:nvPr/>
        </p:nvSpPr>
        <p:spPr>
          <a:xfrm>
            <a:off x="8636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Acceptance</a:t>
            </a:r>
            <a:endParaRPr lang="en-US" sz="1100"/>
          </a:p>
        </p:txBody>
      </p:sp>
      <p:sp>
        <p:nvSpPr>
          <p:cNvPr id="24" name="AutoShape 24"/>
          <p:cNvSpPr/>
          <p:nvPr/>
        </p:nvSpPr>
        <p:spPr>
          <a:xfrm>
            <a:off x="8572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acceptance evidence</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Docs review - release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v0.5.0</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5544">
            <a:off x="1244605" y="1936750"/>
            <a:ext cx="78740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cxnSp>
        <p:nvCxnSpPr>
          <p:cNvPr id="26" name="Connector 26"/>
          <p:cNvCxnSpPr/>
          <p:nvPr/>
        </p:nvCxnSpPr>
        <p:spPr>
          <a:xfrm rot="-4092">
            <a:off x="762004" y="4184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7" name="AutoShape 27"/>
          <p:cNvSpPr/>
          <p:nvPr/>
        </p:nvSpPr>
        <p:spPr>
          <a:xfrm>
            <a:off x="762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119</a:t>
            </a:r>
            <a:endParaRPr lang="en-US" sz="1100"/>
          </a:p>
        </p:txBody>
      </p:sp>
      <p:sp>
        <p:nvSpPr>
          <p:cNvPr id="28" name="AutoShape 28"/>
          <p:cNvSpPr/>
          <p:nvPr/>
        </p:nvSpPr>
        <p:spPr>
          <a:xfrm>
            <a:off x="762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tests all passing</a:t>
            </a:r>
            <a:endParaRPr lang="en-US" sz="1100"/>
          </a:p>
        </p:txBody>
      </p:sp>
      <p:sp>
        <p:nvSpPr>
          <p:cNvPr id="29" name="AutoShape 29"/>
          <p:cNvSpPr/>
          <p:nvPr/>
        </p:nvSpPr>
        <p:spPr>
          <a:xfrm>
            <a:off x="4064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3</a:t>
            </a:r>
            <a:endParaRPr lang="en-US" sz="1100"/>
          </a:p>
        </p:txBody>
      </p:sp>
      <p:sp>
        <p:nvSpPr>
          <p:cNvPr id="30" name="AutoShape 30"/>
          <p:cNvSpPr/>
          <p:nvPr/>
        </p:nvSpPr>
        <p:spPr>
          <a:xfrm>
            <a:off x="4064000" y="5181600"/>
            <a:ext cx="2794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 layers (unit / integration / e2e)</a:t>
            </a:r>
            <a:endParaRPr lang="en-US" sz="1100"/>
          </a:p>
        </p:txBody>
      </p:sp>
      <p:sp>
        <p:nvSpPr>
          <p:cNvPr id="31" name="AutoShape 31"/>
          <p:cNvSpPr/>
          <p:nvPr/>
        </p:nvSpPr>
        <p:spPr>
          <a:xfrm>
            <a:off x="7366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6</a:t>
            </a:r>
            <a:endParaRPr lang="en-US" sz="1100"/>
          </a:p>
        </p:txBody>
      </p:sp>
      <p:sp>
        <p:nvSpPr>
          <p:cNvPr id="32" name="AutoShape 32"/>
          <p:cNvSpPr/>
          <p:nvPr/>
        </p:nvSpPr>
        <p:spPr>
          <a:xfrm>
            <a:off x="7366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architecture decision records</a:t>
            </a:r>
            <a:endParaRPr lang="en-US" sz="1100"/>
          </a:p>
        </p:txBody>
      </p:sp>
      <p:sp>
        <p:nvSpPr>
          <p:cNvPr id="33" name="AutoShape 33"/>
          <p:cNvSpPr/>
          <p:nvPr/>
        </p:nvSpPr>
        <p:spPr>
          <a:xfrm>
            <a:off x="9779000" y="4445000"/>
            <a:ext cx="2032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v0.5.0</a:t>
            </a:r>
            <a:endParaRPr lang="en-US" sz="1100"/>
          </a:p>
        </p:txBody>
      </p:sp>
      <p:sp>
        <p:nvSpPr>
          <p:cNvPr id="34" name="AutoShape 34"/>
          <p:cNvSpPr/>
          <p:nvPr/>
        </p:nvSpPr>
        <p:spPr>
          <a:xfrm>
            <a:off x="9779000" y="52070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current version</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10 / RESTRICTIONS &amp; TODO</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Known restrictions and items to be completed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custDataLst>
              <p:tags r:id="rId1"/>
            </p:custDataLst>
          </p:nvPr>
        </p:nvSpPr>
        <p:spPr>
          <a:xfrm>
            <a:off x="762000" y="1587500"/>
            <a:ext cx="5080000" cy="4699000"/>
          </a:xfrm>
          <a:prstGeom prst="roundRect">
            <a:avLst>
              <a:gd name="adj" fmla="val 0"/>
            </a:avLst>
          </a:prstGeom>
          <a:solidFill>
            <a:srgbClr val="FFF1F2">
              <a:alpha val="100000"/>
            </a:srgbClr>
          </a:solidFill>
          <a:ln w="12700" cap="flat" cmpd="sng">
            <a:solidFill>
              <a:srgbClr val="C9302C">
                <a:alpha val="100000"/>
              </a:srgbClr>
            </a:solidFill>
            <a:prstDash val="solid"/>
            <a:round/>
          </a:ln>
        </p:spPr>
        <p:txBody>
          <a:bodyPr vert="horz" wrap="square" lIns="63500" tIns="63500" rIns="63500" bIns="63500" rtlCol="0" anchor="ctr"/>
          <a:lstStyle/>
          <a:p>
            <a:pPr algn="ctr">
              <a:defRPr/>
            </a:pPr>
          </a:p>
        </p:txBody>
      </p:sp>
      <p:sp>
        <p:nvSpPr>
          <p:cNvPr id="6" name="AutoShape 6"/>
          <p:cNvSpPr/>
          <p:nvPr>
            <p:custDataLst>
              <p:tags r:id="rId2"/>
            </p:custDataLst>
          </p:nvPr>
        </p:nvSpPr>
        <p:spPr>
          <a:xfrm>
            <a:off x="1016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C9302C"/>
                </a:solidFill>
                <a:latin typeface="Inter"/>
                <a:ea typeface="Inter"/>
                <a:cs typeface="Inter"/>
                <a:sym typeface="Inter"/>
              </a:rPr>
              <a:t>RESTRICTIONS</a:t>
            </a:r>
            <a:endParaRPr lang="en-US" sz="1100"/>
          </a:p>
        </p:txBody>
      </p:sp>
      <p:sp>
        <p:nvSpPr>
          <p:cNvPr id="7" name="AutoShape 7"/>
          <p:cNvSpPr/>
          <p:nvPr>
            <p:custDataLst>
              <p:tags r:id="rId3"/>
            </p:custDataLst>
          </p:nvPr>
        </p:nvSpPr>
        <p:spPr>
          <a:xfrm>
            <a:off x="1016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Current POC limitations by design</a:t>
            </a:r>
            <a:endParaRPr lang="en-US" sz="1100"/>
          </a:p>
        </p:txBody>
      </p:sp>
      <p:sp>
        <p:nvSpPr>
          <p:cNvPr id="8" name="AutoShape 8"/>
          <p:cNvSpPr/>
          <p:nvPr>
            <p:custDataLst>
              <p:tags r:id="rId4"/>
            </p:custDataLst>
          </p:nvPr>
        </p:nvSpPr>
        <p:spPr>
          <a:xfrm>
            <a:off x="1016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UDP transport only, no TCP or TLS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Source IP whitelist only, no SIP Digest auth</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Single peer pair, no multi-S-SBC routing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persistence; calls lost on restart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CDR generation or billing interface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DoS protection, rate limiting, or CAC</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file logs only, no central collection</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YAML + .env config only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5"/>
            </p:custDataLst>
          </p:nvPr>
        </p:nvSpPr>
        <p:spPr>
          <a:xfrm>
            <a:off x="6350000" y="1587500"/>
            <a:ext cx="5080000" cy="4699000"/>
          </a:xfrm>
          <a:prstGeom prst="roundRect">
            <a:avLst>
              <a:gd name="adj" fmla="val 0"/>
            </a:avLst>
          </a:prstGeom>
          <a:solidFill>
            <a:srgbClr val="EFF6FF">
              <a:alpha val="100000"/>
            </a:srgbClr>
          </a:solidFill>
          <a:ln w="12700" cap="flat" cmpd="sng">
            <a:solidFill>
              <a:srgbClr val="2563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6"/>
            </p:custDataLst>
          </p:nvPr>
        </p:nvSpPr>
        <p:spPr>
          <a:xfrm>
            <a:off x="6604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Inter"/>
                <a:ea typeface="Inter"/>
                <a:cs typeface="Inter"/>
                <a:sym typeface="Inter"/>
              </a:rPr>
              <a:t>TODO </a:t>
            </a:r>
            <a:endParaRPr lang="en-US" sz="1100"/>
          </a:p>
        </p:txBody>
      </p:sp>
      <p:sp>
        <p:nvSpPr>
          <p:cNvPr id="11" name="AutoShape 11"/>
          <p:cNvSpPr/>
          <p:nvPr>
            <p:custDataLst>
              <p:tags r:id="rId7"/>
            </p:custDataLst>
          </p:nvPr>
        </p:nvSpPr>
        <p:spPr>
          <a:xfrm>
            <a:off x="6604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Roadmap to production-grade</a:t>
            </a:r>
            <a:endParaRPr lang="en-US" sz="1100"/>
          </a:p>
        </p:txBody>
      </p:sp>
      <p:sp>
        <p:nvSpPr>
          <p:cNvPr id="12" name="AutoShape 12"/>
          <p:cNvSpPr/>
          <p:nvPr>
            <p:custDataLst>
              <p:tags r:id="rId8"/>
            </p:custDataLst>
          </p:nvPr>
        </p:nvSpPr>
        <p:spPr>
          <a:xfrm>
            <a:off x="6604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Add TCP and TLS transport (SIPS)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SIP Digest authentication and TLS certs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Multi-S-SBC peer group with smart failover</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Session persistence and restart recovery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Per-call CDR generation and reporting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Rate limiting, CAC, and black/white lists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Centralized log collection and alerting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Managed config service and secret management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524000"/>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 SIP APPLICATION SERVER</a:t>
            </a:r>
            <a:endParaRPr lang="en-US" sz="1100"/>
          </a:p>
        </p:txBody>
      </p:sp>
      <p:sp>
        <p:nvSpPr>
          <p:cNvPr id="3" name="AutoShape 3"/>
          <p:cNvSpPr/>
          <p:nvPr/>
        </p:nvSpPr>
        <p:spPr>
          <a:xfrm>
            <a:off x="1016000" y="2159000"/>
            <a:ext cx="1041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800" b="1" i="0" u="none" strike="noStrike">
                <a:solidFill>
                  <a:srgbClr val="FFFFFF"/>
                </a:solidFill>
                <a:latin typeface="Inter"/>
                <a:ea typeface="Inter"/>
                <a:cs typeface="Inter"/>
                <a:sym typeface="Inter"/>
              </a:rPr>
              <a:t>Signalling-only B2BUA, POC verified</a:t>
            </a:r>
            <a:endParaRPr lang="en-US" sz="1100"/>
          </a:p>
        </p:txBody>
      </p:sp>
      <p:sp>
        <p:nvSpPr>
          <p:cNvPr id="4" name="AutoShape 4"/>
          <p:cNvSpPr/>
          <p:nvPr/>
        </p:nvSpPr>
        <p:spPr>
          <a:xfrm>
            <a:off x="1016000" y="3175000"/>
            <a:ext cx="9906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Declarative routing rules - multi-format number translation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v0.5.0</a:t>
            </a:r>
            <a:endParaRPr lang="en-US" sz="1100"/>
          </a:p>
        </p:txBody>
      </p:sp>
      <p:sp>
        <p:nvSpPr>
          <p:cNvPr id="7" name="AutoShape 7"/>
          <p:cNvSpPr/>
          <p:nvPr/>
        </p:nvSpPr>
        <p:spPr>
          <a:xfrm>
            <a:off x="1016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Current version</a:t>
            </a:r>
            <a:endParaRPr lang="en-US" sz="1100"/>
          </a:p>
        </p:txBody>
      </p:sp>
      <p:sp>
        <p:nvSpPr>
          <p:cNvPr id="8" name="AutoShape 8"/>
          <p:cNvSpPr/>
          <p:nvPr/>
        </p:nvSpPr>
        <p:spPr>
          <a:xfrm>
            <a:off x="3683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119</a:t>
            </a:r>
            <a:endParaRPr lang="en-US" sz="1100"/>
          </a:p>
        </p:txBody>
      </p:sp>
      <p:sp>
        <p:nvSpPr>
          <p:cNvPr id="9" name="AutoShape 9"/>
          <p:cNvSpPr/>
          <p:nvPr/>
        </p:nvSpPr>
        <p:spPr>
          <a:xfrm>
            <a:off x="3683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tests all passing</a:t>
            </a:r>
            <a:endParaRPr lang="en-US" sz="1100"/>
          </a:p>
        </p:txBody>
      </p:sp>
      <p:sp>
        <p:nvSpPr>
          <p:cNvPr id="10" name="AutoShape 10"/>
          <p:cNvSpPr/>
          <p:nvPr/>
        </p:nvSpPr>
        <p:spPr>
          <a:xfrm>
            <a:off x="6350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6 ADR</a:t>
            </a:r>
            <a:endParaRPr lang="en-US" sz="1100"/>
          </a:p>
        </p:txBody>
      </p:sp>
      <p:sp>
        <p:nvSpPr>
          <p:cNvPr id="11" name="AutoShape 11"/>
          <p:cNvSpPr/>
          <p:nvPr/>
        </p:nvSpPr>
        <p:spPr>
          <a:xfrm>
            <a:off x="6350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architecture decisions</a:t>
            </a:r>
            <a:endParaRPr lang="en-US" sz="1100"/>
          </a:p>
        </p:txBody>
      </p:sp>
      <p:sp>
        <p:nvSpPr>
          <p:cNvPr id="12" name="AutoShape 12"/>
          <p:cNvSpPr/>
          <p:nvPr/>
        </p:nvSpPr>
        <p:spPr>
          <a:xfrm>
            <a:off x="8763000" y="4318000"/>
            <a:ext cx="2667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Apache-2.0</a:t>
            </a:r>
            <a:endParaRPr lang="en-US" sz="1100"/>
          </a:p>
        </p:txBody>
      </p:sp>
      <p:sp>
        <p:nvSpPr>
          <p:cNvPr id="13" name="AutoShape 13"/>
          <p:cNvSpPr/>
          <p:nvPr/>
        </p:nvSpPr>
        <p:spPr>
          <a:xfrm>
            <a:off x="8763000" y="4953000"/>
            <a:ext cx="2667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Open source license</a:t>
            </a:r>
            <a:endParaRPr lang="en-US" sz="1100"/>
          </a:p>
        </p:txBody>
      </p:sp>
    </p:spTree>
  </p:cSld>
  <p:clrMapOvr>
    <a:masterClrMapping/>
  </p:clrMapOvr>
</p:sld>
</file>

<file path=ppt/tags/tag1.xml><?xml version="1.0" encoding="utf-8"?>
<p:tagLst xmlns:p="http://schemas.openxmlformats.org/presentationml/2006/main">
  <p:tag name="KSO_WM_DIAGRAM_VIRTUALLY_FRAME" val="{&quot;height&quot;:370,&quot;left&quot;:60,&quot;top&quot;:125,&quot;width&quot;:840}"/>
</p:tagLst>
</file>

<file path=ppt/tags/tag2.xml><?xml version="1.0" encoding="utf-8"?>
<p:tagLst xmlns:p="http://schemas.openxmlformats.org/presentationml/2006/main">
  <p:tag name="KSO_WM_DIAGRAM_VIRTUALLY_FRAME" val="{&quot;height&quot;:370,&quot;left&quot;:60,&quot;top&quot;:125,&quot;width&quot;:840}"/>
</p:tagLst>
</file>

<file path=ppt/tags/tag3.xml><?xml version="1.0" encoding="utf-8"?>
<p:tagLst xmlns:p="http://schemas.openxmlformats.org/presentationml/2006/main">
  <p:tag name="KSO_WM_DIAGRAM_VIRTUALLY_FRAME" val="{&quot;height&quot;:370,&quot;left&quot;:60,&quot;top&quot;:125,&quot;width&quot;:840}"/>
</p:tagLst>
</file>

<file path=ppt/tags/tag4.xml><?xml version="1.0" encoding="utf-8"?>
<p:tagLst xmlns:p="http://schemas.openxmlformats.org/presentationml/2006/main">
  <p:tag name="KSO_WM_DIAGRAM_VIRTUALLY_FRAME" val="{&quot;height&quot;:370,&quot;left&quot;:60,&quot;top&quot;:125,&quot;width&quot;:840}"/>
</p:tagLst>
</file>

<file path=ppt/tags/tag5.xml><?xml version="1.0" encoding="utf-8"?>
<p:tagLst xmlns:p="http://schemas.openxmlformats.org/presentationml/2006/main">
  <p:tag name="KSO_WM_DIAGRAM_VIRTUALLY_FRAME" val="{&quot;height&quot;:370,&quot;left&quot;:60,&quot;top&quot;:125,&quot;width&quot;:840}"/>
</p:tagLst>
</file>

<file path=ppt/tags/tag6.xml><?xml version="1.0" encoding="utf-8"?>
<p:tagLst xmlns:p="http://schemas.openxmlformats.org/presentationml/2006/main">
  <p:tag name="KSO_WM_DIAGRAM_VIRTUALLY_FRAME" val="{&quot;height&quot;:370,&quot;left&quot;:60,&quot;top&quot;:125,&quot;width&quot;:840}"/>
</p:tagLst>
</file>

<file path=ppt/tags/tag7.xml><?xml version="1.0" encoding="utf-8"?>
<p:tagLst xmlns:p="http://schemas.openxmlformats.org/presentationml/2006/main">
  <p:tag name="KSO_WM_DIAGRAM_VIRTUALLY_FRAME" val="{&quot;height&quot;:370,&quot;left&quot;:60,&quot;top&quot;:125,&quot;width&quot;:840}"/>
</p:tagLst>
</file>

<file path=ppt/tags/tag8.xml><?xml version="1.0" encoding="utf-8"?>
<p:tagLst xmlns:p="http://schemas.openxmlformats.org/presentationml/2006/main">
  <p:tag name="KSO_WM_DIAGRAM_VIRTUALLY_FRAME" val="{&quot;height&quot;:370,&quot;left&quot;:60,&quot;top&quot;:125,&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6358</Words>
  <Application>WPS 演示</Application>
  <PresentationFormat/>
  <Paragraphs>418</Paragraphs>
  <Slides>12</Slides>
  <Notes>0</Notes>
  <HiddenSlides>0</HiddenSlides>
  <MMClips>0</MMClips>
  <ScaleCrop>false</ScaleCrop>
  <HeadingPairs>
    <vt:vector size="6" baseType="variant">
      <vt:variant>
        <vt:lpstr>已用的字体</vt:lpstr>
      </vt:variant>
      <vt:variant>
        <vt:i4>10</vt:i4>
      </vt:variant>
      <vt:variant>
        <vt:lpstr>主题</vt:lpstr>
      </vt:variant>
      <vt:variant>
        <vt:i4>2</vt:i4>
      </vt:variant>
      <vt:variant>
        <vt:lpstr>幻灯片标题</vt:lpstr>
      </vt:variant>
      <vt:variant>
        <vt:i4>12</vt:i4>
      </vt:variant>
    </vt:vector>
  </HeadingPairs>
  <TitlesOfParts>
    <vt:vector size="24" baseType="lpstr">
      <vt:lpstr>Arial</vt:lpstr>
      <vt:lpstr>宋体</vt:lpstr>
      <vt:lpstr>Wingdings</vt:lpstr>
      <vt:lpstr>Arial</vt:lpstr>
      <vt:lpstr>Inter</vt:lpstr>
      <vt:lpstr>FFont-Family</vt:lpstr>
      <vt:lpstr>Noto Sans SC</vt:lpstr>
      <vt:lpstr>Roboto Mono</vt:lpstr>
      <vt:lpstr>微软雅黑</vt:lpstr>
      <vt:lpstr>Arial Unicode MS</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陈佳音</cp:lastModifiedBy>
  <cp:revision>7</cp:revision>
  <dcterms:created xsi:type="dcterms:W3CDTF">2026-09-16T04:56:33Z</dcterms:created>
  <dcterms:modified xsi:type="dcterms:W3CDTF">2026-09-16T05:08:03Z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{"Label":"1","ContentProducer":"001191110102MACQD9K64010000","ProduceID":"7685991450677234669","ReservedCode1":"","ContentPropagator":"","PropagateID":"","ReservedCode2":""}</vt:lpwstr>
  </property>
  <property fmtid="{D5CDD505-2E9C-101B-9397-08002B2CF9AE}" pid="3" name="KSOProductBuildVer">
    <vt:lpwstr>2052-12.1.0.28505</vt:lpwstr>
  </property>
  <property fmtid="{D5CDD505-2E9C-101B-9397-08002B2CF9AE}" pid="4" name="ICV">
    <vt:lpwstr>BE461D49F1C54AB2BB7B405F7A44E6F9_13</vt:lpwstr>
  </property>
</Properties>
</file>
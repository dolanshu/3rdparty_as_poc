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Lst>
  <p:notesMasterIdLst>
    <p:notesMasterId r:id="rId7"/>
  </p:notesMasterIdLst>
  <p:sldIdLst>
    <p:sldId id="256" r:id="rId6"/>
    <p:sldId id="257" r:id="rId8"/>
    <p:sldId id="258" r:id="rId9"/>
    <p:sldId id="259" r:id="rId10"/>
    <p:sldId id="260" r:id="rId11"/>
    <p:sldId id="261" r:id="rId12"/>
    <p:sldId id="262" r:id="rId13"/>
    <p:sldId id="263" r:id="rId14"/>
    <p:sldId id="264" r:id="rId15"/>
    <p:sldId id="265" r:id="rId16"/>
    <p:sldId id="266" r:id="rId17"/>
    <p:sldId id="267" r:id="rId18"/>
    <p:sldId id="268" r:id="rId19"/>
    <p:sldId id="272"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4"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4"/>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project is a proof-of-concept for a third-party IMS Application Server: a B2BUA positioned outside the carrier network, connecting to the operator's S-SBC via SIP trunk.</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Core capabilities are number translation and intelligent routing, purely on the signalling plane with no media processing. Current version v0.5.0 with all M0-M4 milestones completed.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shows where the project sits in the carrier network: it is a third-party Application Server outside the IMS core, reached via the S-SBC SIP trunk.</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dashed IMS box encompasses the IMS Core Network (S-CSCF, SIP protocol conversion, topology hiding, security isolation) and the S-SBC at the service boundary. The 3rd-Party AS sits outside, reached over a SIP trunk / leased line.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Key boundaries: signalling only (no RTP), B2BUA not 302 redirect, switching from Mock to real S-SBC is config-only.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system runs as three separate Docker containers orchestrated by docker compose. This is ADR-0002: sippy's ED2 loop blocks the main thread, so it cannot share an event loop with a web server.</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Each container has its own network namespace and ports. The AS is the core B2BUA, s-sbc-mock simulates the operator side, and console provides the ops UI. Switching from Mock to a real S-SBC requires only environment variable changes, no code changes.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diagram shows the complete call signalling flow. The UAC sends INVITE to the AS, which matches the routing rule and translates the number from E.164 to national format, then sends a new INVITE upstream.</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Responses (100, 180, 200 OK) are relayed segment by segment back to the UAC. The SDP and SIP headers pass through unchanged; only the Request-URI is rewritten. ACK is handled by the SIP transaction layer automatically.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routing engine is the core business logic. All routing policy is written as YAML data, not code - this is ADR-0004.</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Rules match by priority ascending, support both exact number and prefix matching, and can be filtered by number format. The current rule set has 17 rules and 6 next hops covering mobile, fixed, international, short code, and emergency scenarios.</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rules file supports hot reload with 1-second polling. If a new config has a syntax error, the old rules are kept.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Number translation is the core business capability. The system supports interconversion between four number formats: E.164 international, national 0-prefix, short code, and international 00-prefix.</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table shows typical scenarios: mobile numbers from E.164 to national, PBX extensions expanded to full numbers, international calls from 00-prefix to +-prefix, emergency short codes passed through, and value-added service numbers blocked with 603.</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system has complete error handling. Four typical exception scenarios have explicit SIP responses: no matching rule returns 404, policy rejection returns 603, caller CANCEL is handled, and unauthorized peer addresses return 403.</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All internal errors use a unified AS-XXX-NNN error code system mapped to SIP standard status codes. Next-hop failover switches from primary to backup after 3 seconds.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Observability is fundamental to a carrier-grade system. All logs are structured JSON, each line carrying the Call-ID for full call lifecycle tracing.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ops console runs as a separate process and communicates with the AS via internal API, providing real-time message flow, rule hit highlighting, stats panel, and SVG topology. It uses pure HTML/CSS/JS with no frontend framework.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All technical choices are documented as ADRs. sippy is a mature RFC 3261 SIP stack providing a B2BUA framework, avoiding hand-rolling a SIP protocol stack.</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Six key decisions cover everything from transport to business logic: why sippy, why separate console process, why UDP only, why rules as data, why Mock shares the stack, and why signalling-only.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project progressed through five milestones, all completed. M0 builds the skeleton, M1 establishes the signalling path, M2 implements number translation and routing, M3 builds the ops console, and M4 completes acceptance and documentation.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119 test cases pass across unit, integration, and end-to-end layers. All architecture decisions are documented in ADRs. Current version is v0.5.0.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As a POC, this project intentionally implements only the core signalling logic. Every restriction is explicitly registered in production-gaps.md - not forgotten, but a conscious trade-off.</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left column lists current limitations: UDP-only, IP-whitelist-only, single peer, no persistence, no CDR, no security hardening, local logs, local config.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right column lists the TODO roadmap to production: TLS, Digest auth, multi-S-SBC failover, session recovery, CDR, rate limiting, centralized observability, and managed configuration.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POC validates the core technical feasibility of a third-party IMS Application Server: a sippy-based B2BUA signalling plane, declarative YAML routing engine, multi-format number translation, structured logging, and real-time ops console.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All M0-M4 milestones are complete, 119 tests pass, and 6 architecture decisions are documented. Current version v0.5.0, Apache-2.0 open source.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Next step: evolve to production-grade deployment following the registered restriction and TODO roadmap.</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POC validates the core technical feasibility of a third-party IMS Application Server: a sippy-based B2BUA signalling plane, declarative YAML routing engine, multi-format number translation, structured logging, and real-time ops console.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All M0-M4 milestones are complete, 119 tests pass, and 6 architecture decisions are documented. Current version v0.5.0, Apache-2.0 open source.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Next step: evolve to production-grade deployment following the registered restriction and TODO roadmap.</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POC validates the core technical feasibility of a third-party IMS Application Server: a sippy-based B2BUA signalling plane, declarative YAML routing engine, multi-format number translation, structured logging, and real-time ops console.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All M0-M4 milestones are complete, 119 tests pass, and 6 architecture decisions are documented. Current version v0.5.0, Apache-2.0 open source.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Next step: evolve to production-grade deployment following the registered restriction and TODO roadmap.</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11.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alpha val="100000"/>
              </a:srgbClr>
            </a:gs>
            <a:gs pos="100000">
              <a:srgbClr val="2563E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016000" y="16510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FD7FF"/>
                </a:solidFill>
                <a:latin typeface="Inter"/>
                <a:ea typeface="Inter"/>
                <a:cs typeface="Inter"/>
                <a:sym typeface="Inter"/>
              </a:rPr>
              <a:t>THIRD-PARTY IMS APPLICATION SERVER</a:t>
            </a:r>
            <a:endParaRPr lang="en-US" sz="1100"/>
          </a:p>
        </p:txBody>
      </p:sp>
      <p:sp>
        <p:nvSpPr>
          <p:cNvPr id="3" name="AutoShape 3"/>
          <p:cNvSpPr/>
          <p:nvPr/>
        </p:nvSpPr>
        <p:spPr>
          <a:xfrm>
            <a:off x="1016000" y="2222500"/>
            <a:ext cx="10160000" cy="711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Inter"/>
                <a:ea typeface="Inter"/>
                <a:cs typeface="Inter"/>
                <a:sym typeface="Inter"/>
              </a:rPr>
              <a:t>B2BUA Number Translation &amp; Routing POC</a:t>
            </a:r>
            <a:endParaRPr lang="en-US" sz="1100"/>
          </a:p>
        </p:txBody>
      </p:sp>
      <p:sp>
        <p:nvSpPr>
          <p:cNvPr id="4" name="AutoShape 4"/>
          <p:cNvSpPr/>
          <p:nvPr/>
        </p:nvSpPr>
        <p:spPr>
          <a:xfrm>
            <a:off x="1016000" y="3238500"/>
            <a:ext cx="965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BFD7FF"/>
                </a:solidFill>
                <a:latin typeface="Inter"/>
                <a:ea typeface="Inter"/>
                <a:cs typeface="Inter"/>
                <a:sym typeface="Inter"/>
              </a:rPr>
              <a:t>Signalling-only SIP B2BUA - Declarative YAML routing - Carrier-grade observability</a:t>
            </a:r>
            <a:endParaRPr lang="en-US" sz="1100"/>
          </a:p>
        </p:txBody>
      </p:sp>
      <p:cxnSp>
        <p:nvCxnSpPr>
          <p:cNvPr id="5" name="Connector 5"/>
          <p:cNvCxnSpPr/>
          <p:nvPr/>
        </p:nvCxnSpPr>
        <p:spPr>
          <a:xfrm rot="-17188">
            <a:off x="1016016" y="3930650"/>
            <a:ext cx="2540000" cy="12700"/>
          </a:xfrm>
          <a:prstGeom prst="straightConnector1">
            <a:avLst/>
          </a:prstGeom>
          <a:solidFill>
            <a:srgbClr val="DEE0E3">
              <a:alpha val="100000"/>
            </a:srgbClr>
          </a:solidFill>
          <a:ln w="12700" cap="flat" cmpd="sng">
            <a:solidFill>
              <a:srgbClr val="BFD7FF">
                <a:alpha val="50000"/>
              </a:srgbClr>
            </a:solidFill>
            <a:prstDash val="solid"/>
            <a:round/>
            <a:headEnd type="none" w="med" len="med"/>
            <a:tailEnd type="none" w="med" len="med"/>
          </a:ln>
        </p:spPr>
      </p:cxnSp>
      <p:sp>
        <p:nvSpPr>
          <p:cNvPr id="6" name="AutoShape 6"/>
          <p:cNvSpPr/>
          <p:nvPr/>
        </p:nvSpPr>
        <p:spPr>
          <a:xfrm>
            <a:off x="1016000" y="43180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FD7FF"/>
                </a:solidFill>
                <a:latin typeface="Inter"/>
                <a:ea typeface="Inter"/>
                <a:cs typeface="Inter"/>
                <a:sym typeface="Inter"/>
              </a:rPr>
              <a:t>Version 0.5.0 · SIP / RFC 3261 · Signalling Only</a:t>
            </a:r>
            <a:endParaRPr lang="en-US" sz="1100"/>
          </a:p>
        </p:txBody>
      </p:sp>
      <p:sp>
        <p:nvSpPr>
          <p:cNvPr id="7" name="AutoShape 7"/>
          <p:cNvSpPr/>
          <p:nvPr/>
        </p:nvSpPr>
        <p:spPr>
          <a:xfrm>
            <a:off x="1016000" y="529209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FD7FF"/>
                </a:solidFill>
                <a:latin typeface="Inter"/>
                <a:ea typeface="Inter"/>
                <a:cs typeface="Inter"/>
                <a:sym typeface="Inter"/>
              </a:rPr>
              <a:t>September 2026</a:t>
            </a:r>
            <a:endParaRPr lang="en-US" sz="1100"/>
          </a:p>
        </p:txBody>
      </p:sp>
      <p:sp>
        <p:nvSpPr>
          <p:cNvPr id="8" name="AutoShape 7"/>
          <p:cNvSpPr/>
          <p:nvPr/>
        </p:nvSpPr>
        <p:spPr>
          <a:xfrm>
            <a:off x="1016000" y="4883150"/>
            <a:ext cx="10160000" cy="3048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0" i="0" u="none" strike="noStrike">
                <a:solidFill>
                  <a:srgbClr val="BFD7FF"/>
                </a:solidFill>
                <a:latin typeface="Inter"/>
                <a:ea typeface="Inter"/>
                <a:cs typeface="Inter"/>
                <a:sym typeface="Inter"/>
              </a:rPr>
              <a:t>Dolan </a:t>
            </a:r>
            <a:r>
              <a:rPr lang="en-US" sz="1400" b="0" i="0" u="none" strike="noStrike">
                <a:solidFill>
                  <a:srgbClr val="BFD7FF"/>
                </a:solidFill>
                <a:latin typeface="Inter"/>
                <a:ea typeface="Inter"/>
                <a:cs typeface="Inter"/>
                <a:sym typeface="Inter"/>
              </a:rPr>
              <a:t>Shu</a:t>
            </a:r>
            <a:endParaRPr lang="en-US" sz="1400" b="0" i="0" u="none" strike="noStrike">
              <a:solidFill>
                <a:srgbClr val="BFD7FF"/>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01 / POSITIONING</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B2BUA outside the carrier network, signalling only</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pic>
        <p:nvPicPr>
          <p:cNvPr id="5" name="Picture 5"/>
          <p:cNvPicPr>
            <a:picLocks noChangeAspect="1"/>
          </p:cNvPicPr>
          <p:nvPr/>
        </p:nvPicPr>
        <p:blipFill>
          <a:blip r:embed="rId1"/>
          <a:srcRect t="30" b="30"/>
          <a:stretch>
            <a:fillRect/>
          </a:stretch>
        </p:blipFill>
        <p:spPr>
          <a:xfrm>
            <a:off x="1397000" y="1460500"/>
            <a:ext cx="9398000" cy="5283200"/>
          </a:xfrm>
          <a:prstGeom prst="rect">
            <a:avLst/>
          </a:prstGeom>
          <a:noFill/>
          <a:ln w="25400" cap="flat" cmpd="sng">
            <a:noFill/>
            <a:prstDash val="solid"/>
            <a:round/>
          </a:ln>
        </p:spPr>
      </p:pic>
      <p:sp>
        <p:nvSpPr>
          <p:cNvPr id="6" name="AutoShape 6"/>
          <p:cNvSpPr/>
          <p:nvPr/>
        </p:nvSpPr>
        <p:spPr>
          <a:xfrm>
            <a:off x="1625600" y="2730500"/>
            <a:ext cx="5588000" cy="3810000"/>
          </a:xfrm>
          <a:prstGeom prst="roundRect">
            <a:avLst>
              <a:gd name="adj" fmla="val 0"/>
            </a:avLst>
          </a:prstGeom>
          <a:noFill/>
          <a:ln w="25400" cap="flat" cmpd="sng">
            <a:solidFill>
              <a:srgbClr val="2563EB">
                <a:alpha val="100000"/>
              </a:srgbClr>
            </a:solidFill>
            <a:prstDash val="dash"/>
            <a:round/>
          </a:ln>
        </p:spPr>
        <p:txBody>
          <a:bodyPr vert="horz" wrap="square" lIns="63500" tIns="63500" rIns="63500" bIns="63500" rtlCol="0" anchor="ctr"/>
          <a:lstStyle/>
          <a:p>
            <a:pPr algn="ctr">
              <a:defRPr/>
            </a:pPr>
          </a:p>
        </p:txBody>
      </p:sp>
      <p:sp>
        <p:nvSpPr>
          <p:cNvPr id="7" name="AutoShape 7"/>
          <p:cNvSpPr/>
          <p:nvPr/>
        </p:nvSpPr>
        <p:spPr>
          <a:xfrm>
            <a:off x="1778000" y="2616200"/>
            <a:ext cx="762000" cy="279400"/>
          </a:xfrm>
          <a:prstGeom prst="roundRect">
            <a:avLst>
              <a:gd name="adj" fmla="val 0"/>
            </a:avLst>
          </a:prstGeom>
          <a:solidFill>
            <a:srgbClr val="F2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778000" y="2616200"/>
            <a:ext cx="762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2563EB"/>
                </a:solidFill>
                <a:latin typeface="Inter"/>
                <a:ea typeface="Inter"/>
                <a:cs typeface="Inter"/>
                <a:sym typeface="Inter"/>
              </a:rPr>
              <a:t>IMS</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02 / ARCHITECTURE</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Three-process isolation in Docker Compose</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nvSpPr>
        <p:spPr>
          <a:xfrm>
            <a:off x="635000" y="1524000"/>
            <a:ext cx="10922000" cy="4699000"/>
          </a:xfrm>
          <a:prstGeom prst="roundRect">
            <a:avLst>
              <a:gd name="adj" fmla="val 0"/>
            </a:avLst>
          </a:prstGeom>
          <a:noFill/>
          <a:ln w="25400" cap="flat" cmpd="sng">
            <a:solidFill>
              <a:srgbClr val="0D132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5875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0D1326"/>
                </a:solidFill>
                <a:latin typeface="Inter"/>
                <a:ea typeface="Inter"/>
                <a:cs typeface="Inter"/>
                <a:sym typeface="Inter"/>
              </a:rPr>
              <a:t>DOCKER HOST (compose)</a:t>
            </a:r>
            <a:endParaRPr lang="en-US" sz="1100"/>
          </a:p>
        </p:txBody>
      </p:sp>
      <p:grpSp>
        <p:nvGrpSpPr>
          <p:cNvPr id="28" name="组合 27"/>
          <p:cNvGrpSpPr/>
          <p:nvPr/>
        </p:nvGrpSpPr>
        <p:grpSpPr>
          <a:xfrm>
            <a:off x="4318000" y="2590800"/>
            <a:ext cx="3515995" cy="2842260"/>
            <a:chOff x="1600" y="3100"/>
            <a:chExt cx="4600" cy="4476"/>
          </a:xfrm>
        </p:grpSpPr>
        <p:sp>
          <p:nvSpPr>
            <p:cNvPr id="11" name="AutoShape 11"/>
            <p:cNvSpPr/>
            <p:nvPr/>
          </p:nvSpPr>
          <p:spPr>
            <a:xfrm>
              <a:off x="1800" y="4070"/>
              <a:ext cx="4400" cy="12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536174"/>
                  </a:solidFill>
                  <a:latin typeface="Inter"/>
                  <a:ea typeface="Inter"/>
                  <a:cs typeface="Inter"/>
                  <a:sym typeface="Inter"/>
                </a:rPr>
                <a:t>python -m as_app.main</a:t>
              </a:r>
              <a:endParaRPr lang="en-US" sz="1100"/>
            </a:p>
            <a:p>
              <a:pPr marL="0" indent="0" algn="l">
                <a:lnSpc>
                  <a:spcPct val="133000"/>
                </a:lnSpc>
              </a:pPr>
              <a:r>
                <a:rPr lang="en-US" sz="1100" b="0" i="0" u="none" strike="noStrike">
                  <a:solidFill>
                    <a:srgbClr val="536174"/>
                  </a:solidFill>
                  <a:latin typeface="Inter"/>
                  <a:ea typeface="Inter"/>
                  <a:cs typeface="Inter"/>
                  <a:sym typeface="Inter"/>
                </a:rPr>
                <a:t>UDP 5060 - SIP trunk</a:t>
              </a:r>
              <a:endParaRPr lang="en-US" sz="1100" b="0" i="0" u="none" strike="noStrike">
                <a:solidFill>
                  <a:srgbClr val="536174"/>
                </a:solidFill>
                <a:latin typeface="Inter"/>
                <a:ea typeface="Inter"/>
                <a:cs typeface="Inter"/>
                <a:sym typeface="Inter"/>
              </a:endParaRPr>
            </a:p>
            <a:p>
              <a:pPr marL="0" indent="0" algn="l">
                <a:lnSpc>
                  <a:spcPct val="133000"/>
                </a:lnSpc>
              </a:pPr>
              <a:r>
                <a:rPr lang="en-US" sz="1100" b="0" i="0" u="none" strike="noStrike">
                  <a:solidFill>
                    <a:srgbClr val="536174"/>
                  </a:solidFill>
                  <a:latin typeface="Inter"/>
                  <a:ea typeface="Inter"/>
                  <a:cs typeface="Inter"/>
                  <a:sym typeface="Inter"/>
                </a:rPr>
                <a:t>TCP 8080 - internal API</a:t>
              </a:r>
              <a:endParaRPr lang="en-US" sz="1100" b="0" i="0" u="none" strike="noStrike">
                <a:solidFill>
                  <a:srgbClr val="536174"/>
                </a:solidFill>
                <a:latin typeface="Inter"/>
                <a:ea typeface="Inter"/>
                <a:cs typeface="Inter"/>
                <a:sym typeface="Inter"/>
              </a:endParaRPr>
            </a:p>
          </p:txBody>
        </p:sp>
        <p:grpSp>
          <p:nvGrpSpPr>
            <p:cNvPr id="27" name="组合 26"/>
            <p:cNvGrpSpPr/>
            <p:nvPr/>
          </p:nvGrpSpPr>
          <p:grpSpPr>
            <a:xfrm>
              <a:off x="1600" y="3100"/>
              <a:ext cx="4600" cy="4476"/>
              <a:chOff x="1600" y="3100"/>
              <a:chExt cx="4600" cy="4476"/>
            </a:xfrm>
          </p:grpSpPr>
          <p:sp>
            <p:nvSpPr>
              <p:cNvPr id="10" name="AutoShape 10"/>
              <p:cNvSpPr/>
              <p:nvPr/>
            </p:nvSpPr>
            <p:spPr>
              <a:xfrm>
                <a:off x="1800" y="3526"/>
                <a:ext cx="44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1326"/>
                    </a:solidFill>
                    <a:latin typeface="Inter"/>
                    <a:ea typeface="Inter"/>
                    <a:cs typeface="Inter"/>
                    <a:sym typeface="Inter"/>
                  </a:rPr>
                  <a:t>as_app</a:t>
                </a:r>
                <a:endParaRPr lang="en-US" sz="1100"/>
              </a:p>
            </p:txBody>
          </p:sp>
          <p:grpSp>
            <p:nvGrpSpPr>
              <p:cNvPr id="26" name="组合 25"/>
              <p:cNvGrpSpPr/>
              <p:nvPr/>
            </p:nvGrpSpPr>
            <p:grpSpPr>
              <a:xfrm>
                <a:off x="1600" y="3100"/>
                <a:ext cx="3218" cy="4476"/>
                <a:chOff x="1600" y="3100"/>
                <a:chExt cx="3218" cy="4476"/>
              </a:xfrm>
            </p:grpSpPr>
            <p:sp>
              <p:nvSpPr>
                <p:cNvPr id="7" name="AutoShape 7"/>
                <p:cNvSpPr/>
                <p:nvPr/>
              </p:nvSpPr>
              <p:spPr>
                <a:xfrm>
                  <a:off x="1600" y="3200"/>
                  <a:ext cx="3218" cy="4377"/>
                </a:xfrm>
                <a:prstGeom prst="roundRect">
                  <a:avLst>
                    <a:gd name="adj" fmla="val 0"/>
                  </a:avLst>
                </a:prstGeom>
                <a:noFill/>
                <a:ln w="25400" cap="flat" cmpd="sng">
                  <a:solidFill>
                    <a:srgbClr val="2563EB">
                      <a:alpha val="100000"/>
                    </a:srgbClr>
                  </a:solidFill>
                  <a:prstDash val="dash"/>
                  <a:round/>
                </a:ln>
              </p:spPr>
              <p:txBody>
                <a:bodyPr vert="horz" wrap="square" lIns="63500" tIns="63500" rIns="63500" bIns="63500" rtlCol="0" anchor="ctr"/>
                <a:lstStyle/>
                <a:p>
                  <a:pPr algn="ctr">
                    <a:defRPr/>
                  </a:pPr>
                </a:p>
              </p:txBody>
            </p:sp>
            <p:sp>
              <p:nvSpPr>
                <p:cNvPr id="8" name="AutoShape 8"/>
                <p:cNvSpPr/>
                <p:nvPr/>
              </p:nvSpPr>
              <p:spPr>
                <a:xfrm>
                  <a:off x="1800" y="3100"/>
                  <a:ext cx="2400" cy="44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800" y="3100"/>
                  <a:ext cx="2400" cy="44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FFFFFF"/>
                      </a:solidFill>
                      <a:latin typeface="Inter"/>
                      <a:ea typeface="Inter"/>
                      <a:cs typeface="Inter"/>
                      <a:sym typeface="Inter"/>
                    </a:rPr>
                    <a:t>Container: as</a:t>
                  </a:r>
                  <a:endParaRPr lang="en-US" sz="1100"/>
                </a:p>
              </p:txBody>
            </p:sp>
            <p:sp>
              <p:nvSpPr>
                <p:cNvPr id="12" name="AutoShape 12"/>
                <p:cNvSpPr/>
                <p:nvPr/>
              </p:nvSpPr>
              <p:spPr>
                <a:xfrm>
                  <a:off x="1600" y="5452"/>
                  <a:ext cx="2600" cy="1996"/>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B2BUU core</a:t>
                  </a:r>
                  <a:endParaRPr lang="en-US" sz="1100"/>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Routing engine</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Number translation</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Structured logging</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Health check :8080</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grpSp>
      <p:grpSp>
        <p:nvGrpSpPr>
          <p:cNvPr id="25" name="组合 24"/>
          <p:cNvGrpSpPr/>
          <p:nvPr/>
        </p:nvGrpSpPr>
        <p:grpSpPr>
          <a:xfrm>
            <a:off x="872490" y="2054225"/>
            <a:ext cx="2540000" cy="2286000"/>
            <a:chOff x="7100" y="3100"/>
            <a:chExt cx="5000" cy="4234"/>
          </a:xfrm>
        </p:grpSpPr>
        <p:sp>
          <p:nvSpPr>
            <p:cNvPr id="13" name="AutoShape 13"/>
            <p:cNvSpPr/>
            <p:nvPr/>
          </p:nvSpPr>
          <p:spPr>
            <a:xfrm>
              <a:off x="7100" y="3200"/>
              <a:ext cx="5000" cy="4135"/>
            </a:xfrm>
            <a:prstGeom prst="roundRect">
              <a:avLst>
                <a:gd name="adj" fmla="val 0"/>
              </a:avLst>
            </a:prstGeom>
            <a:noFill/>
            <a:ln w="25400" cap="flat" cmpd="sng">
              <a:solidFill>
                <a:srgbClr val="2563EB">
                  <a:alpha val="100000"/>
                </a:srgbClr>
              </a:solidFill>
              <a:prstDash val="dash"/>
              <a:round/>
            </a:ln>
          </p:spPr>
          <p:txBody>
            <a:bodyPr vert="horz" wrap="square" lIns="63500" tIns="63500" rIns="63500" bIns="63500" rtlCol="0" anchor="ctr"/>
            <a:lstStyle/>
            <a:p>
              <a:pPr algn="ctr">
                <a:defRPr/>
              </a:pPr>
            </a:p>
          </p:txBody>
        </p:sp>
        <p:sp>
          <p:nvSpPr>
            <p:cNvPr id="14" name="AutoShape 14"/>
            <p:cNvSpPr/>
            <p:nvPr/>
          </p:nvSpPr>
          <p:spPr>
            <a:xfrm>
              <a:off x="7300" y="3100"/>
              <a:ext cx="3000" cy="44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300" y="3100"/>
              <a:ext cx="3000" cy="44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FFFFFF"/>
                  </a:solidFill>
                  <a:latin typeface="Inter"/>
                  <a:ea typeface="Inter"/>
                  <a:cs typeface="Inter"/>
                  <a:sym typeface="Inter"/>
                </a:rPr>
                <a:t>Container: s-sbc-mock</a:t>
              </a:r>
              <a:endParaRPr lang="en-US" sz="1100"/>
            </a:p>
          </p:txBody>
        </p:sp>
        <p:sp>
          <p:nvSpPr>
            <p:cNvPr id="16" name="AutoShape 16"/>
            <p:cNvSpPr/>
            <p:nvPr/>
          </p:nvSpPr>
          <p:spPr>
            <a:xfrm>
              <a:off x="7400" y="3710"/>
              <a:ext cx="44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1326"/>
                  </a:solidFill>
                  <a:latin typeface="Inter"/>
                  <a:ea typeface="Inter"/>
                  <a:cs typeface="Inter"/>
                  <a:sym typeface="Inter"/>
                </a:rPr>
                <a:t>s_sbc_mock</a:t>
              </a:r>
              <a:endParaRPr lang="en-US" sz="1100"/>
            </a:p>
          </p:txBody>
        </p:sp>
        <p:sp>
          <p:nvSpPr>
            <p:cNvPr id="17" name="AutoShape 17"/>
            <p:cNvSpPr/>
            <p:nvPr/>
          </p:nvSpPr>
          <p:spPr>
            <a:xfrm>
              <a:off x="7400" y="4190"/>
              <a:ext cx="4400" cy="12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536174"/>
                  </a:solidFill>
                  <a:latin typeface="Inter"/>
                  <a:ea typeface="Inter"/>
                  <a:cs typeface="Inter"/>
                  <a:sym typeface="Inter"/>
                </a:rPr>
                <a:t>python -m s_sbc_mock.main</a:t>
              </a:r>
              <a:endParaRPr lang="en-US" sz="1100"/>
            </a:p>
            <a:p>
              <a:pPr marL="0" indent="0" algn="l">
                <a:lnSpc>
                  <a:spcPct val="133000"/>
                </a:lnSpc>
              </a:pPr>
              <a:r>
                <a:rPr lang="en-US" sz="1100" b="0" i="0" u="none" strike="noStrike">
                  <a:solidFill>
                    <a:srgbClr val="536174"/>
                  </a:solidFill>
                  <a:latin typeface="Inter"/>
                  <a:ea typeface="Inter"/>
                  <a:cs typeface="Inter"/>
                  <a:sym typeface="Inter"/>
                </a:rPr>
                <a:t>UDP 15060 - UAC side</a:t>
              </a:r>
              <a:endParaRPr lang="en-US" sz="1100" b="0" i="0" u="none" strike="noStrike">
                <a:solidFill>
                  <a:srgbClr val="536174"/>
                </a:solidFill>
                <a:latin typeface="Inter"/>
                <a:ea typeface="Inter"/>
                <a:cs typeface="Inter"/>
                <a:sym typeface="Inter"/>
              </a:endParaRPr>
            </a:p>
            <a:p>
              <a:pPr marL="0" indent="0" algn="l">
                <a:lnSpc>
                  <a:spcPct val="133000"/>
                </a:lnSpc>
              </a:pPr>
              <a:r>
                <a:rPr lang="en-US" sz="1100" b="0" i="0" u="none" strike="noStrike">
                  <a:solidFill>
                    <a:srgbClr val="536174"/>
                  </a:solidFill>
                  <a:latin typeface="Inter"/>
                  <a:ea typeface="Inter"/>
                  <a:cs typeface="Inter"/>
                  <a:sym typeface="Inter"/>
                </a:rPr>
                <a:t>UDP 15061 - UAS side</a:t>
              </a:r>
              <a:endParaRPr lang="en-US" sz="1100" b="0" i="0" u="none" strike="noStrike">
                <a:solidFill>
                  <a:srgbClr val="536174"/>
                </a:solidFill>
                <a:latin typeface="Inter"/>
                <a:ea typeface="Inter"/>
                <a:cs typeface="Inter"/>
                <a:sym typeface="Inter"/>
              </a:endParaRPr>
            </a:p>
          </p:txBody>
        </p:sp>
        <p:sp>
          <p:nvSpPr>
            <p:cNvPr id="18" name="AutoShape 18"/>
            <p:cNvSpPr/>
            <p:nvPr/>
          </p:nvSpPr>
          <p:spPr>
            <a:xfrm>
              <a:off x="7300" y="5560"/>
              <a:ext cx="4400" cy="1774"/>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Simulates S-CSCF trigger</a:t>
              </a:r>
              <a:endParaRPr lang="en-US" sz="1100"/>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Simulates core network</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Same SIP stack as AS</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Configurable via .env</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29" name="组合 28"/>
          <p:cNvGrpSpPr/>
          <p:nvPr/>
        </p:nvGrpSpPr>
        <p:grpSpPr>
          <a:xfrm>
            <a:off x="7682865" y="1881505"/>
            <a:ext cx="2921000" cy="2842260"/>
            <a:chOff x="12600" y="3100"/>
            <a:chExt cx="4600" cy="4476"/>
          </a:xfrm>
        </p:grpSpPr>
        <p:sp>
          <p:nvSpPr>
            <p:cNvPr id="19" name="AutoShape 19"/>
            <p:cNvSpPr/>
            <p:nvPr/>
          </p:nvSpPr>
          <p:spPr>
            <a:xfrm>
              <a:off x="12600" y="3200"/>
              <a:ext cx="3851" cy="4377"/>
            </a:xfrm>
            <a:prstGeom prst="roundRect">
              <a:avLst>
                <a:gd name="adj" fmla="val 0"/>
              </a:avLst>
            </a:prstGeom>
            <a:noFill/>
            <a:ln w="25400" cap="flat" cmpd="sng">
              <a:solidFill>
                <a:srgbClr val="2563EB">
                  <a:alpha val="100000"/>
                </a:srgbClr>
              </a:solidFill>
              <a:prstDash val="dash"/>
              <a:round/>
            </a:ln>
          </p:spPr>
          <p:txBody>
            <a:bodyPr vert="horz" wrap="square" lIns="63500" tIns="63500" rIns="63500" bIns="63500" rtlCol="0" anchor="ctr"/>
            <a:lstStyle/>
            <a:p>
              <a:pPr algn="ctr">
                <a:defRPr/>
              </a:pPr>
            </a:p>
          </p:txBody>
        </p:sp>
        <p:sp>
          <p:nvSpPr>
            <p:cNvPr id="20" name="AutoShape 20"/>
            <p:cNvSpPr/>
            <p:nvPr/>
          </p:nvSpPr>
          <p:spPr>
            <a:xfrm>
              <a:off x="12800" y="3100"/>
              <a:ext cx="2600" cy="44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2800" y="3100"/>
              <a:ext cx="2600" cy="44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FFFFFF"/>
                  </a:solidFill>
                  <a:latin typeface="Inter"/>
                  <a:ea typeface="Inter"/>
                  <a:cs typeface="Inter"/>
                  <a:sym typeface="Inter"/>
                </a:rPr>
                <a:t>Container: console</a:t>
              </a:r>
              <a:endParaRPr lang="en-US" sz="1100"/>
            </a:p>
          </p:txBody>
        </p:sp>
        <p:sp>
          <p:nvSpPr>
            <p:cNvPr id="22" name="AutoShape 22"/>
            <p:cNvSpPr/>
            <p:nvPr/>
          </p:nvSpPr>
          <p:spPr>
            <a:xfrm>
              <a:off x="12800" y="3654"/>
              <a:ext cx="44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1326"/>
                  </a:solidFill>
                  <a:latin typeface="Inter"/>
                  <a:ea typeface="Inter"/>
                  <a:cs typeface="Inter"/>
                  <a:sym typeface="Inter"/>
                </a:rPr>
                <a:t>console_app</a:t>
              </a:r>
              <a:endParaRPr lang="en-US" sz="1100"/>
            </a:p>
          </p:txBody>
        </p:sp>
        <p:sp>
          <p:nvSpPr>
            <p:cNvPr id="23" name="AutoShape 23"/>
            <p:cNvSpPr/>
            <p:nvPr/>
          </p:nvSpPr>
          <p:spPr>
            <a:xfrm>
              <a:off x="12800" y="4248"/>
              <a:ext cx="4400" cy="12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536174"/>
                  </a:solidFill>
                  <a:latin typeface="Inter"/>
                  <a:ea typeface="Inter"/>
                  <a:cs typeface="Inter"/>
                  <a:sym typeface="Inter"/>
                </a:rPr>
                <a:t>python -m console_app.main</a:t>
              </a:r>
              <a:endParaRPr lang="en-US" sz="1100"/>
            </a:p>
            <a:p>
              <a:pPr marL="0" indent="0" algn="l">
                <a:lnSpc>
                  <a:spcPct val="133000"/>
                </a:lnSpc>
              </a:pPr>
              <a:r>
                <a:rPr lang="en-US" sz="1100" b="0" i="0" u="none" strike="noStrike">
                  <a:solidFill>
                    <a:srgbClr val="536174"/>
                  </a:solidFill>
                  <a:latin typeface="Inter"/>
                  <a:ea typeface="Inter"/>
                  <a:cs typeface="Inter"/>
                  <a:sym typeface="Inter"/>
                </a:rPr>
                <a:t>TCP 8000 - Web UI</a:t>
              </a:r>
              <a:endParaRPr lang="en-US" sz="1100" b="0" i="0" u="none" strike="noStrike">
                <a:solidFill>
                  <a:srgbClr val="536174"/>
                </a:solidFill>
                <a:latin typeface="Inter"/>
                <a:ea typeface="Inter"/>
                <a:cs typeface="Inter"/>
                <a:sym typeface="Inter"/>
              </a:endParaRPr>
            </a:p>
            <a:p>
              <a:pPr marL="0" indent="0" algn="l">
                <a:lnSpc>
                  <a:spcPct val="133000"/>
                </a:lnSpc>
              </a:pPr>
              <a:r>
                <a:rPr lang="en-US" sz="1100" b="0" i="0" u="none" strike="noStrike">
                  <a:solidFill>
                    <a:srgbClr val="536174"/>
                  </a:solidFill>
                  <a:latin typeface="Inter"/>
                  <a:ea typeface="Inter"/>
                  <a:cs typeface="Inter"/>
                  <a:sym typeface="Inter"/>
                </a:rPr>
                <a:t>HTTP proxy to :8080</a:t>
              </a:r>
              <a:endParaRPr lang="en-US" sz="1100" b="0" i="0" u="none" strike="noStrike">
                <a:solidFill>
                  <a:srgbClr val="536174"/>
                </a:solidFill>
                <a:latin typeface="Inter"/>
                <a:ea typeface="Inter"/>
                <a:cs typeface="Inter"/>
                <a:sym typeface="Inter"/>
              </a:endParaRPr>
            </a:p>
          </p:txBody>
        </p:sp>
        <p:sp>
          <p:nvSpPr>
            <p:cNvPr id="24" name="AutoShape 24"/>
            <p:cNvSpPr/>
            <p:nvPr/>
          </p:nvSpPr>
          <p:spPr>
            <a:xfrm>
              <a:off x="12800" y="5562"/>
              <a:ext cx="2600" cy="1878"/>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Dark ops dashboard</a:t>
              </a:r>
              <a:endParaRPr lang="en-US" sz="1100"/>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message flow</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SVG topology view</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Stats panel</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03 / SIGNALLING FLOW</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call flow: INVITE relayed after number translation</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nvSpPr>
        <p:spPr>
          <a:xfrm>
            <a:off x="1016000" y="1524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D1326"/>
                </a:solidFill>
                <a:latin typeface="Inter"/>
                <a:ea typeface="Inter"/>
                <a:cs typeface="Inter"/>
                <a:sym typeface="Inter"/>
              </a:rPr>
              <a:t>UAC (S-CSCF)</a:t>
            </a:r>
            <a:endParaRPr lang="en-US" sz="1100"/>
          </a:p>
        </p:txBody>
      </p:sp>
      <p:cxnSp>
        <p:nvCxnSpPr>
          <p:cNvPr id="6" name="Connector 6"/>
          <p:cNvCxnSpPr/>
          <p:nvPr/>
        </p:nvCxnSpPr>
        <p:spPr>
          <a:xfrm rot="5387027">
            <a:off x="476250" y="3517912"/>
            <a:ext cx="3365500" cy="12700"/>
          </a:xfrm>
          <a:prstGeom prst="straightConnector1">
            <a:avLst/>
          </a:prstGeom>
          <a:solidFill>
            <a:srgbClr val="DEE0E3">
              <a:alpha val="100000"/>
            </a:srgbClr>
          </a:solidFill>
          <a:ln w="12700" cap="flat" cmpd="sng">
            <a:solidFill>
              <a:srgbClr val="94A3B8">
                <a:alpha val="100000"/>
              </a:srgbClr>
            </a:solidFill>
            <a:prstDash val="dash"/>
            <a:round/>
            <a:headEnd type="none" w="med" len="med"/>
            <a:tailEnd type="none" w="med" len="med"/>
          </a:ln>
        </p:spPr>
      </p:cxnSp>
      <p:sp>
        <p:nvSpPr>
          <p:cNvPr id="7" name="AutoShape 7"/>
          <p:cNvSpPr/>
          <p:nvPr/>
        </p:nvSpPr>
        <p:spPr>
          <a:xfrm>
            <a:off x="4953000" y="1524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2563EB"/>
                </a:solidFill>
                <a:latin typeface="Inter"/>
                <a:ea typeface="Inter"/>
                <a:cs typeface="Inter"/>
                <a:sym typeface="Inter"/>
              </a:rPr>
              <a:t>Third-Party AS (B2BUA)</a:t>
            </a:r>
            <a:endParaRPr lang="en-US" sz="1100"/>
          </a:p>
        </p:txBody>
      </p:sp>
      <p:cxnSp>
        <p:nvCxnSpPr>
          <p:cNvPr id="8" name="Connector 8"/>
          <p:cNvCxnSpPr/>
          <p:nvPr/>
        </p:nvCxnSpPr>
        <p:spPr>
          <a:xfrm rot="5387027">
            <a:off x="4413250" y="3517912"/>
            <a:ext cx="33655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none" w="lg" len="lg"/>
          </a:ln>
        </p:spPr>
      </p:cxnSp>
      <p:sp>
        <p:nvSpPr>
          <p:cNvPr id="9" name="AutoShape 9"/>
          <p:cNvSpPr/>
          <p:nvPr/>
        </p:nvSpPr>
        <p:spPr>
          <a:xfrm>
            <a:off x="8890000" y="1524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D1326"/>
                </a:solidFill>
                <a:latin typeface="Inter"/>
                <a:ea typeface="Inter"/>
                <a:cs typeface="Inter"/>
                <a:sym typeface="Inter"/>
              </a:rPr>
              <a:t>UAS (Core Network)</a:t>
            </a:r>
            <a:endParaRPr lang="en-US" sz="1100"/>
          </a:p>
        </p:txBody>
      </p:sp>
      <p:cxnSp>
        <p:nvCxnSpPr>
          <p:cNvPr id="10" name="Connector 10"/>
          <p:cNvCxnSpPr/>
          <p:nvPr/>
        </p:nvCxnSpPr>
        <p:spPr>
          <a:xfrm rot="5387027">
            <a:off x="8350250" y="3517912"/>
            <a:ext cx="3365500" cy="12700"/>
          </a:xfrm>
          <a:prstGeom prst="straightConnector1">
            <a:avLst/>
          </a:prstGeom>
          <a:solidFill>
            <a:srgbClr val="DEE0E3">
              <a:alpha val="100000"/>
            </a:srgbClr>
          </a:solidFill>
          <a:ln w="12700" cap="flat" cmpd="sng">
            <a:solidFill>
              <a:srgbClr val="94A3B8">
                <a:alpha val="100000"/>
              </a:srgbClr>
            </a:solidFill>
            <a:prstDash val="dash"/>
            <a:round/>
            <a:headEnd type="none" w="med" len="med"/>
            <a:tailEnd type="none" w="med" len="med"/>
          </a:ln>
        </p:spPr>
      </p:cxnSp>
      <p:cxnSp>
        <p:nvCxnSpPr>
          <p:cNvPr id="11" name="Connector 11"/>
          <p:cNvCxnSpPr/>
          <p:nvPr/>
        </p:nvCxnSpPr>
        <p:spPr>
          <a:xfrm rot="-11161">
            <a:off x="2159010" y="2089150"/>
            <a:ext cx="39116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12" name="AutoShape 12"/>
          <p:cNvSpPr/>
          <p:nvPr/>
        </p:nvSpPr>
        <p:spPr>
          <a:xfrm>
            <a:off x="2540000" y="1905000"/>
            <a:ext cx="3175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D1326"/>
                </a:solidFill>
                <a:latin typeface="Inter"/>
                <a:ea typeface="Inter"/>
                <a:cs typeface="Inter"/>
                <a:sym typeface="Inter"/>
              </a:rPr>
              <a:t>INVITE sip:+8613800138000@as</a:t>
            </a:r>
            <a:endParaRPr lang="en-US" sz="1100"/>
          </a:p>
        </p:txBody>
      </p:sp>
      <p:sp>
        <p:nvSpPr>
          <p:cNvPr id="13" name="AutoShape 13"/>
          <p:cNvSpPr/>
          <p:nvPr/>
        </p:nvSpPr>
        <p:spPr>
          <a:xfrm>
            <a:off x="6223000" y="2260600"/>
            <a:ext cx="2794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2563EB"/>
                </a:solidFill>
                <a:latin typeface="Inter"/>
                <a:ea typeface="Inter"/>
                <a:cs typeface="Inter"/>
                <a:sym typeface="Inter"/>
              </a:rPr>
              <a:t>R-MOB-CM-40 match -&gt; 013800138000</a:t>
            </a:r>
            <a:endParaRPr lang="en-US" sz="1100"/>
          </a:p>
        </p:txBody>
      </p:sp>
      <p:cxnSp>
        <p:nvCxnSpPr>
          <p:cNvPr id="14" name="Connector 14"/>
          <p:cNvCxnSpPr/>
          <p:nvPr/>
        </p:nvCxnSpPr>
        <p:spPr>
          <a:xfrm rot="-11234">
            <a:off x="6121410" y="2660650"/>
            <a:ext cx="38862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15" name="AutoShape 15"/>
          <p:cNvSpPr/>
          <p:nvPr/>
        </p:nvSpPr>
        <p:spPr>
          <a:xfrm>
            <a:off x="6477000" y="2476500"/>
            <a:ext cx="3175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D1326"/>
                </a:solidFill>
                <a:latin typeface="Inter"/>
                <a:ea typeface="Inter"/>
                <a:cs typeface="Inter"/>
                <a:sym typeface="Inter"/>
              </a:rPr>
              <a:t>INVITE sip:013800138000@s-sbc</a:t>
            </a:r>
            <a:endParaRPr lang="en-US" sz="1100"/>
          </a:p>
        </p:txBody>
      </p:sp>
      <p:cxnSp>
        <p:nvCxnSpPr>
          <p:cNvPr id="16" name="Connector 16"/>
          <p:cNvCxnSpPr/>
          <p:nvPr/>
        </p:nvCxnSpPr>
        <p:spPr>
          <a:xfrm rot="10788765">
            <a:off x="6121390" y="3168650"/>
            <a:ext cx="3886200" cy="12700"/>
          </a:xfrm>
          <a:prstGeom prst="straightConnector1">
            <a:avLst/>
          </a:prstGeom>
          <a:solidFill>
            <a:srgbClr val="DEE0E3">
              <a:alpha val="100000"/>
            </a:srgbClr>
          </a:solidFill>
          <a:ln w="12700" cap="flat" cmpd="sng">
            <a:solidFill>
              <a:srgbClr val="94A3B8">
                <a:alpha val="100000"/>
              </a:srgbClr>
            </a:solidFill>
            <a:prstDash val="solid"/>
            <a:round/>
            <a:headEnd type="none" w="med" len="med"/>
            <a:tailEnd type="arrow" w="med" len="med"/>
          </a:ln>
        </p:spPr>
      </p:cxnSp>
      <p:sp>
        <p:nvSpPr>
          <p:cNvPr id="17" name="AutoShape 17"/>
          <p:cNvSpPr/>
          <p:nvPr/>
        </p:nvSpPr>
        <p:spPr>
          <a:xfrm>
            <a:off x="7366000" y="2984500"/>
            <a:ext cx="1524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Inter"/>
                <a:ea typeface="Inter"/>
                <a:cs typeface="Inter"/>
                <a:sym typeface="Inter"/>
              </a:rPr>
              <a:t>100 Trying</a:t>
            </a:r>
            <a:endParaRPr lang="en-US" sz="1100"/>
          </a:p>
        </p:txBody>
      </p:sp>
      <p:cxnSp>
        <p:nvCxnSpPr>
          <p:cNvPr id="18" name="Connector 18"/>
          <p:cNvCxnSpPr/>
          <p:nvPr/>
        </p:nvCxnSpPr>
        <p:spPr>
          <a:xfrm rot="10788765">
            <a:off x="2184390" y="3168650"/>
            <a:ext cx="3886200" cy="12700"/>
          </a:xfrm>
          <a:prstGeom prst="straightConnector1">
            <a:avLst/>
          </a:prstGeom>
          <a:solidFill>
            <a:srgbClr val="DEE0E3">
              <a:alpha val="100000"/>
            </a:srgbClr>
          </a:solidFill>
          <a:ln w="12700" cap="flat" cmpd="sng">
            <a:solidFill>
              <a:srgbClr val="94A3B8">
                <a:alpha val="100000"/>
              </a:srgbClr>
            </a:solidFill>
            <a:prstDash val="solid"/>
            <a:round/>
            <a:headEnd type="none" w="med" len="med"/>
            <a:tailEnd type="arrow" w="med" len="med"/>
          </a:ln>
        </p:spPr>
      </p:cxnSp>
      <p:sp>
        <p:nvSpPr>
          <p:cNvPr id="19" name="AutoShape 19"/>
          <p:cNvSpPr/>
          <p:nvPr/>
        </p:nvSpPr>
        <p:spPr>
          <a:xfrm>
            <a:off x="3556000" y="2984500"/>
            <a:ext cx="1524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Inter"/>
                <a:ea typeface="Inter"/>
                <a:cs typeface="Inter"/>
                <a:sym typeface="Inter"/>
              </a:rPr>
              <a:t>100 Trying</a:t>
            </a:r>
            <a:endParaRPr lang="en-US" sz="1100"/>
          </a:p>
        </p:txBody>
      </p:sp>
      <p:cxnSp>
        <p:nvCxnSpPr>
          <p:cNvPr id="20" name="Connector 20"/>
          <p:cNvCxnSpPr/>
          <p:nvPr/>
        </p:nvCxnSpPr>
        <p:spPr>
          <a:xfrm rot="10788765">
            <a:off x="6121390" y="3740150"/>
            <a:ext cx="3886200" cy="12700"/>
          </a:xfrm>
          <a:prstGeom prst="straightConnector1">
            <a:avLst/>
          </a:prstGeom>
          <a:solidFill>
            <a:srgbClr val="DEE0E3">
              <a:alpha val="100000"/>
            </a:srgbClr>
          </a:solidFill>
          <a:ln w="12700" cap="flat" cmpd="sng">
            <a:solidFill>
              <a:srgbClr val="94A3B8">
                <a:alpha val="100000"/>
              </a:srgbClr>
            </a:solidFill>
            <a:prstDash val="solid"/>
            <a:round/>
            <a:headEnd type="none" w="med" len="med"/>
            <a:tailEnd type="arrow" w="med" len="med"/>
          </a:ln>
        </p:spPr>
      </p:cxnSp>
      <p:sp>
        <p:nvSpPr>
          <p:cNvPr id="21" name="AutoShape 21"/>
          <p:cNvSpPr/>
          <p:nvPr/>
        </p:nvSpPr>
        <p:spPr>
          <a:xfrm>
            <a:off x="7366000" y="3556000"/>
            <a:ext cx="1524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Inter"/>
                <a:ea typeface="Inter"/>
                <a:cs typeface="Inter"/>
                <a:sym typeface="Inter"/>
              </a:rPr>
              <a:t>180 Ringing</a:t>
            </a:r>
            <a:endParaRPr lang="en-US" sz="1100"/>
          </a:p>
        </p:txBody>
      </p:sp>
      <p:cxnSp>
        <p:nvCxnSpPr>
          <p:cNvPr id="22" name="Connector 22"/>
          <p:cNvCxnSpPr/>
          <p:nvPr/>
        </p:nvCxnSpPr>
        <p:spPr>
          <a:xfrm rot="10788765">
            <a:off x="2184390" y="3740150"/>
            <a:ext cx="3886200" cy="12700"/>
          </a:xfrm>
          <a:prstGeom prst="straightConnector1">
            <a:avLst/>
          </a:prstGeom>
          <a:solidFill>
            <a:srgbClr val="DEE0E3">
              <a:alpha val="100000"/>
            </a:srgbClr>
          </a:solidFill>
          <a:ln w="12700" cap="flat" cmpd="sng">
            <a:solidFill>
              <a:srgbClr val="94A3B8">
                <a:alpha val="100000"/>
              </a:srgbClr>
            </a:solidFill>
            <a:prstDash val="solid"/>
            <a:round/>
            <a:headEnd type="none" w="med" len="med"/>
            <a:tailEnd type="arrow" w="med" len="med"/>
          </a:ln>
        </p:spPr>
      </p:cxnSp>
      <p:sp>
        <p:nvSpPr>
          <p:cNvPr id="23" name="AutoShape 23"/>
          <p:cNvSpPr/>
          <p:nvPr/>
        </p:nvSpPr>
        <p:spPr>
          <a:xfrm>
            <a:off x="3556000" y="3556000"/>
            <a:ext cx="1524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Inter"/>
                <a:ea typeface="Inter"/>
                <a:cs typeface="Inter"/>
                <a:sym typeface="Inter"/>
              </a:rPr>
              <a:t>180 Ringing</a:t>
            </a:r>
            <a:endParaRPr lang="en-US" sz="1100"/>
          </a:p>
        </p:txBody>
      </p:sp>
      <p:cxnSp>
        <p:nvCxnSpPr>
          <p:cNvPr id="24" name="Connector 24"/>
          <p:cNvCxnSpPr/>
          <p:nvPr/>
        </p:nvCxnSpPr>
        <p:spPr>
          <a:xfrm rot="10788765">
            <a:off x="6121390" y="4311650"/>
            <a:ext cx="38862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25" name="AutoShape 25"/>
          <p:cNvSpPr/>
          <p:nvPr/>
        </p:nvSpPr>
        <p:spPr>
          <a:xfrm>
            <a:off x="7366000" y="4127500"/>
            <a:ext cx="1524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0D1326"/>
                </a:solidFill>
                <a:latin typeface="Inter"/>
                <a:ea typeface="Inter"/>
                <a:cs typeface="Inter"/>
                <a:sym typeface="Inter"/>
              </a:rPr>
              <a:t>200 OK</a:t>
            </a:r>
            <a:endParaRPr lang="en-US" sz="1100"/>
          </a:p>
        </p:txBody>
      </p:sp>
      <p:cxnSp>
        <p:nvCxnSpPr>
          <p:cNvPr id="26" name="Connector 26"/>
          <p:cNvCxnSpPr/>
          <p:nvPr/>
        </p:nvCxnSpPr>
        <p:spPr>
          <a:xfrm rot="10788765">
            <a:off x="2184390" y="4311650"/>
            <a:ext cx="38862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27" name="AutoShape 27"/>
          <p:cNvSpPr/>
          <p:nvPr/>
        </p:nvSpPr>
        <p:spPr>
          <a:xfrm>
            <a:off x="3556000" y="4127500"/>
            <a:ext cx="1524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0D1326"/>
                </a:solidFill>
                <a:latin typeface="Inter"/>
                <a:ea typeface="Inter"/>
                <a:cs typeface="Inter"/>
                <a:sym typeface="Inter"/>
              </a:rPr>
              <a:t>200 OK</a:t>
            </a:r>
            <a:endParaRPr lang="en-US" sz="1100"/>
          </a:p>
        </p:txBody>
      </p:sp>
      <p:cxnSp>
        <p:nvCxnSpPr>
          <p:cNvPr id="28" name="Connector 28"/>
          <p:cNvCxnSpPr/>
          <p:nvPr/>
        </p:nvCxnSpPr>
        <p:spPr>
          <a:xfrm rot="-11234">
            <a:off x="2184410" y="4883150"/>
            <a:ext cx="3886200" cy="12700"/>
          </a:xfrm>
          <a:prstGeom prst="straightConnector1">
            <a:avLst/>
          </a:prstGeom>
          <a:solidFill>
            <a:srgbClr val="DEE0E3">
              <a:alpha val="100000"/>
            </a:srgbClr>
          </a:solidFill>
          <a:ln w="12700" cap="flat" cmpd="sng">
            <a:solidFill>
              <a:srgbClr val="94A3B8">
                <a:alpha val="100000"/>
              </a:srgbClr>
            </a:solidFill>
            <a:prstDash val="solid"/>
            <a:round/>
            <a:headEnd type="none" w="med" len="med"/>
            <a:tailEnd type="arrow" w="med" len="med"/>
          </a:ln>
        </p:spPr>
      </p:cxnSp>
      <p:sp>
        <p:nvSpPr>
          <p:cNvPr id="29" name="AutoShape 29"/>
          <p:cNvSpPr/>
          <p:nvPr/>
        </p:nvSpPr>
        <p:spPr>
          <a:xfrm>
            <a:off x="3810000" y="4699000"/>
            <a:ext cx="762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Inter"/>
                <a:ea typeface="Inter"/>
                <a:cs typeface="Inter"/>
                <a:sym typeface="Inter"/>
              </a:rPr>
              <a:t>ACK</a:t>
            </a:r>
            <a:endParaRPr lang="en-US" sz="1100"/>
          </a:p>
        </p:txBody>
      </p:sp>
      <p:cxnSp>
        <p:nvCxnSpPr>
          <p:cNvPr id="30" name="Connector 30"/>
          <p:cNvCxnSpPr/>
          <p:nvPr/>
        </p:nvCxnSpPr>
        <p:spPr>
          <a:xfrm rot="-11234">
            <a:off x="6121410" y="4883150"/>
            <a:ext cx="3886200" cy="12700"/>
          </a:xfrm>
          <a:prstGeom prst="straightConnector1">
            <a:avLst/>
          </a:prstGeom>
          <a:solidFill>
            <a:srgbClr val="DEE0E3">
              <a:alpha val="100000"/>
            </a:srgbClr>
          </a:solidFill>
          <a:ln w="12700" cap="flat" cmpd="sng">
            <a:solidFill>
              <a:srgbClr val="94A3B8">
                <a:alpha val="100000"/>
              </a:srgbClr>
            </a:solidFill>
            <a:prstDash val="solid"/>
            <a:round/>
            <a:headEnd type="none" w="med" len="med"/>
            <a:tailEnd type="arrow" w="med" len="med"/>
          </a:ln>
        </p:spPr>
      </p:cxnSp>
      <p:sp>
        <p:nvSpPr>
          <p:cNvPr id="31" name="AutoShape 31"/>
          <p:cNvSpPr/>
          <p:nvPr/>
        </p:nvSpPr>
        <p:spPr>
          <a:xfrm>
            <a:off x="7620000" y="4699000"/>
            <a:ext cx="762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Inter"/>
                <a:ea typeface="Inter"/>
                <a:cs typeface="Inter"/>
                <a:sym typeface="Inter"/>
              </a:rPr>
              <a:t>ACK</a:t>
            </a:r>
            <a:endParaRPr lang="en-US" sz="1100"/>
          </a:p>
        </p:txBody>
      </p:sp>
      <p:sp>
        <p:nvSpPr>
          <p:cNvPr id="32" name="AutoShape 32"/>
          <p:cNvSpPr/>
          <p:nvPr/>
        </p:nvSpPr>
        <p:spPr>
          <a:xfrm>
            <a:off x="762000" y="5334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SIP headers and SDP body pass through verbatim; only the Request-URI number is rewritten. The Call-ID links both legs for end-to-end tracing.</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04 / ROUTING ENGINE</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Declarative YAML rules: data is policy, hot-reloaded</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nvSpPr>
        <p:spPr>
          <a:xfrm>
            <a:off x="762000" y="15240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Rule example (config/routing_rules.yaml)</a:t>
            </a:r>
            <a:endParaRPr lang="en-US" sz="1100"/>
          </a:p>
        </p:txBody>
      </p:sp>
      <p:sp>
        <p:nvSpPr>
          <p:cNvPr id="6" name="AutoShape 6"/>
          <p:cNvSpPr/>
          <p:nvPr/>
        </p:nvSpPr>
        <p:spPr>
          <a:xfrm>
            <a:off x="762000" y="1841500"/>
            <a:ext cx="5080000" cy="3683000"/>
          </a:xfrm>
          <a:prstGeom prst="roundRect">
            <a:avLst>
              <a:gd name="adj" fmla="val 0"/>
            </a:avLst>
          </a:prstGeom>
          <a:solidFill>
            <a:srgbClr val="0D13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1968500"/>
            <a:ext cx="4699000" cy="3429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1" i="0" u="none" strike="noStrike">
                <a:solidFill>
                  <a:srgbClr val="94A3B8"/>
                </a:solidFill>
                <a:latin typeface="Roboto Mono"/>
                <a:ea typeface="Roboto Mono"/>
                <a:cs typeface="Roboto Mono"/>
                <a:sym typeface="Roboto Mono"/>
              </a:rPr>
              <a:t># Mobile number translation</a:t>
            </a:r>
            <a:endParaRPr lang="en-US" sz="1100"/>
          </a:p>
          <a:p>
            <a:pPr marL="0" indent="0" algn="l">
              <a:lnSpc>
                <a:spcPct val="133000"/>
              </a:lnSpc>
            </a:pPr>
            <a:r>
              <a:rPr lang="en-US" sz="1100" b="0" i="0" u="none" strike="noStrike">
                <a:solidFill>
                  <a:srgbClr val="BFD7FF"/>
                </a:solidFill>
                <a:latin typeface="Roboto Mono"/>
                <a:ea typeface="Roboto Mono"/>
                <a:cs typeface="Roboto Mono"/>
                <a:sym typeface="Roboto Mono"/>
              </a:rPr>
              <a:t>- rule_id: </a:t>
            </a:r>
            <a:r>
              <a:rPr lang="en-US" sz="1100" b="0" i="0" u="none" strike="noStrike">
                <a:solidFill>
                  <a:srgbClr val="86EFAC"/>
                </a:solidFill>
                <a:latin typeface="Roboto Mono"/>
                <a:ea typeface="Roboto Mono"/>
                <a:cs typeface="Roboto Mono"/>
                <a:sym typeface="Roboto Mono"/>
              </a:rPr>
              <a:t>R-MOB-CM-40</a:t>
            </a:r>
            <a:endParaRPr lang="en-US" sz="1100" b="0" i="0" u="none" strike="noStrike">
              <a:solidFill>
                <a:srgbClr val="86EFAC"/>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priority: </a:t>
            </a:r>
            <a:r>
              <a:rPr lang="en-US" sz="1100" b="0" i="0" u="none" strike="noStrike">
                <a:solidFill>
                  <a:srgbClr val="FFFFFF"/>
                </a:solidFill>
                <a:latin typeface="Roboto Mono"/>
                <a:ea typeface="Roboto Mono"/>
                <a:cs typeface="Roboto Mono"/>
                <a:sym typeface="Roboto Mono"/>
              </a:rPr>
              <a:t>100</a:t>
            </a:r>
            <a:endParaRPr lang="en-US" sz="1100" b="0" i="0" u="none" strike="noStrike">
              <a:solidFill>
                <a:srgbClr val="FFFF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match:</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called_prefixes:</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["+86134", "+86135", ...]</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number_format: </a:t>
            </a:r>
            <a:r>
              <a:rPr lang="en-US" sz="1100" b="0" i="0" u="none" strike="noStrike">
                <a:solidFill>
                  <a:srgbClr val="FFFFFF"/>
                </a:solidFill>
                <a:latin typeface="Roboto Mono"/>
                <a:ea typeface="Roboto Mono"/>
                <a:cs typeface="Roboto Mono"/>
                <a:sym typeface="Roboto Mono"/>
              </a:rPr>
              <a:t>e164</a:t>
            </a:r>
            <a:endParaRPr lang="en-US" sz="1100" b="0" i="0" u="none" strike="noStrike">
              <a:solidFill>
                <a:srgbClr val="FFFF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action:</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kind: </a:t>
            </a:r>
            <a:r>
              <a:rPr lang="en-US" sz="1100" b="0" i="0" u="none" strike="noStrike">
                <a:solidFill>
                  <a:srgbClr val="FFFFFF"/>
                </a:solidFill>
                <a:latin typeface="Roboto Mono"/>
                <a:ea typeface="Roboto Mono"/>
                <a:cs typeface="Roboto Mono"/>
                <a:sym typeface="Roboto Mono"/>
              </a:rPr>
              <a:t>route</a:t>
            </a:r>
            <a:endParaRPr lang="en-US" sz="1100" b="0" i="0" u="none" strike="noStrike">
              <a:solidFill>
                <a:srgbClr val="FFFF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translate:</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to_format: </a:t>
            </a:r>
            <a:r>
              <a:rPr lang="en-US" sz="1100" b="0" i="0" u="none" strike="noStrike">
                <a:solidFill>
                  <a:srgbClr val="FFFFFF"/>
                </a:solidFill>
                <a:latin typeface="Roboto Mono"/>
                <a:ea typeface="Roboto Mono"/>
                <a:cs typeface="Roboto Mono"/>
                <a:sym typeface="Roboto Mono"/>
              </a:rPr>
              <a:t>national</a:t>
            </a:r>
            <a:endParaRPr lang="en-US" sz="1100" b="0" i="0" u="none" strike="noStrike">
              <a:solidFill>
                <a:srgbClr val="FFFF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strip_prefix: </a:t>
            </a:r>
            <a:r>
              <a:rPr lang="en-US" sz="1100" b="0" i="0" u="none" strike="noStrike">
                <a:solidFill>
                  <a:srgbClr val="FFFFFF"/>
                </a:solidFill>
                <a:latin typeface="Roboto Mono"/>
                <a:ea typeface="Roboto Mono"/>
                <a:cs typeface="Roboto Mono"/>
                <a:sym typeface="Roboto Mono"/>
              </a:rPr>
              <a:t>"+86"</a:t>
            </a:r>
            <a:endParaRPr lang="en-US" sz="1100" b="0" i="0" u="none" strike="noStrike">
              <a:solidFill>
                <a:srgbClr val="FFFF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prepend: </a:t>
            </a:r>
            <a:r>
              <a:rPr lang="en-US" sz="1100" b="0" i="0" u="none" strike="noStrike">
                <a:solidFill>
                  <a:srgbClr val="FFFFFF"/>
                </a:solidFill>
                <a:latin typeface="Roboto Mono"/>
                <a:ea typeface="Roboto Mono"/>
                <a:cs typeface="Roboto Mono"/>
                <a:sym typeface="Roboto Mono"/>
              </a:rPr>
              <a:t>"0"</a:t>
            </a:r>
            <a:endParaRPr lang="en-US" sz="1100" b="0" i="0" u="none" strike="noStrike">
              <a:solidFill>
                <a:srgbClr val="FFFFFF"/>
              </a:solidFill>
              <a:latin typeface="Roboto Mono"/>
              <a:ea typeface="Roboto Mono"/>
              <a:cs typeface="Roboto Mono"/>
              <a:sym typeface="Roboto Mono"/>
            </a:endParaRPr>
          </a:p>
          <a:p>
            <a:pPr marL="0" indent="0" algn="l">
              <a:lnSpc>
                <a:spcPct val="133000"/>
              </a:lnSpc>
            </a:pPr>
            <a:r>
              <a:rPr lang="en-US" sz="1100" b="0" i="0" u="none" strike="noStrike">
                <a:solidFill>
                  <a:srgbClr val="BFD7FF"/>
                </a:solidFill>
                <a:latin typeface="Roboto Mono"/>
                <a:ea typeface="Roboto Mono"/>
                <a:cs typeface="Roboto Mono"/>
                <a:sym typeface="Roboto Mono"/>
              </a:rPr>
              <a:t>next_hops: [s-sbc-primary, s-sbc-failover]</a:t>
            </a:r>
            <a:endParaRPr lang="en-US" sz="1100" b="0" i="0" u="none" strike="noStrike">
              <a:solidFill>
                <a:srgbClr val="BFD7FF"/>
              </a:solidFill>
              <a:latin typeface="Roboto Mono"/>
              <a:ea typeface="Roboto Mono"/>
              <a:cs typeface="Roboto Mono"/>
              <a:sym typeface="Roboto Mono"/>
            </a:endParaRPr>
          </a:p>
        </p:txBody>
      </p:sp>
      <p:sp>
        <p:nvSpPr>
          <p:cNvPr id="8" name="AutoShape 8"/>
          <p:cNvSpPr/>
          <p:nvPr/>
        </p:nvSpPr>
        <p:spPr>
          <a:xfrm>
            <a:off x="6350000" y="15240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Rule set overview</a:t>
            </a:r>
            <a:endParaRPr lang="en-US" sz="1100"/>
          </a:p>
        </p:txBody>
      </p:sp>
      <p:sp>
        <p:nvSpPr>
          <p:cNvPr id="9" name="AutoShape 9"/>
          <p:cNvSpPr/>
          <p:nvPr/>
        </p:nvSpPr>
        <p:spPr>
          <a:xfrm>
            <a:off x="6350000" y="1905000"/>
            <a:ext cx="1524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2563EB"/>
                </a:solidFill>
                <a:latin typeface="Inter"/>
                <a:ea typeface="Inter"/>
                <a:cs typeface="Inter"/>
                <a:sym typeface="Inter"/>
              </a:rPr>
              <a:t>17</a:t>
            </a:r>
            <a:endParaRPr lang="en-US" sz="1100"/>
          </a:p>
        </p:txBody>
      </p:sp>
      <p:sp>
        <p:nvSpPr>
          <p:cNvPr id="10" name="AutoShape 10"/>
          <p:cNvSpPr/>
          <p:nvPr/>
        </p:nvSpPr>
        <p:spPr>
          <a:xfrm>
            <a:off x="6350000" y="2540000"/>
            <a:ext cx="1524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Routing rules</a:t>
            </a:r>
            <a:endParaRPr lang="en-US" sz="1100"/>
          </a:p>
        </p:txBody>
      </p:sp>
      <p:sp>
        <p:nvSpPr>
          <p:cNvPr id="11" name="AutoShape 11"/>
          <p:cNvSpPr/>
          <p:nvPr/>
        </p:nvSpPr>
        <p:spPr>
          <a:xfrm>
            <a:off x="8255000" y="1905000"/>
            <a:ext cx="1524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2563EB"/>
                </a:solidFill>
                <a:latin typeface="Inter"/>
                <a:ea typeface="Inter"/>
                <a:cs typeface="Inter"/>
                <a:sym typeface="Inter"/>
              </a:rPr>
              <a:t>6</a:t>
            </a:r>
            <a:endParaRPr lang="en-US" sz="1100"/>
          </a:p>
        </p:txBody>
      </p:sp>
      <p:sp>
        <p:nvSpPr>
          <p:cNvPr id="12" name="AutoShape 12"/>
          <p:cNvSpPr/>
          <p:nvPr/>
        </p:nvSpPr>
        <p:spPr>
          <a:xfrm>
            <a:off x="8255000" y="25146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Next hops (primary + backup)</a:t>
            </a:r>
            <a:endParaRPr lang="en-US" sz="1100"/>
          </a:p>
        </p:txBody>
      </p:sp>
      <p:sp>
        <p:nvSpPr>
          <p:cNvPr id="13" name="AutoShape 13"/>
          <p:cNvSpPr/>
          <p:nvPr/>
        </p:nvSpPr>
        <p:spPr>
          <a:xfrm>
            <a:off x="10160000" y="1905000"/>
            <a:ext cx="1524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2563EB"/>
                </a:solidFill>
                <a:latin typeface="Inter"/>
                <a:ea typeface="Inter"/>
                <a:cs typeface="Inter"/>
                <a:sym typeface="Inter"/>
              </a:rPr>
              <a:t>4</a:t>
            </a:r>
            <a:endParaRPr lang="en-US" sz="1100"/>
          </a:p>
        </p:txBody>
      </p:sp>
      <p:sp>
        <p:nvSpPr>
          <p:cNvPr id="14" name="AutoShape 14"/>
          <p:cNvSpPr/>
          <p:nvPr/>
        </p:nvSpPr>
        <p:spPr>
          <a:xfrm>
            <a:off x="10160000" y="25146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Number formats</a:t>
            </a:r>
            <a:endParaRPr lang="en-US" sz="1100"/>
          </a:p>
        </p:txBody>
      </p:sp>
      <p:cxnSp>
        <p:nvCxnSpPr>
          <p:cNvPr id="15" name="Connector 15"/>
          <p:cNvCxnSpPr/>
          <p:nvPr/>
        </p:nvCxnSpPr>
        <p:spPr>
          <a:xfrm rot="-8594">
            <a:off x="6350008" y="2978150"/>
            <a:ext cx="5080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16" name="AutoShape 16"/>
          <p:cNvSpPr/>
          <p:nvPr/>
        </p:nvSpPr>
        <p:spPr>
          <a:xfrm>
            <a:off x="6350000" y="3175000"/>
            <a:ext cx="5080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Priority match</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rules evaluated by priority ascending, first match wins</a:t>
            </a:r>
            <a:endParaRPr lang="en-US" sz="1100"/>
          </a:p>
          <a:p>
            <a:pPr marL="0" indent="0" algn="l">
              <a:lnSpc>
                <a:spcPct val="142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Exact + prefix</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called_numbers exact or called_prefixes prefix</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Format-aware</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filter by e164 / national / short_code / international</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Hot reload</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- 1s poll detects file changes; bad config falls back to old rules</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Failover</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next_hops list tried in order on failure</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05 / NUMBER TRANSLATION</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Four number formats interconverted: E.164, national, short, intl</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graphicFrame>
        <p:nvGraphicFramePr>
          <p:cNvPr id="5" name="Table 5"/>
          <p:cNvGraphicFramePr>
            <a:graphicFrameLocks noGrp="1"/>
          </p:cNvGraphicFramePr>
          <p:nvPr/>
        </p:nvGraphicFramePr>
        <p:xfrm>
          <a:off x="881380" y="1866900"/>
          <a:ext cx="10668000" cy="3522980"/>
        </p:xfrm>
        <a:graphic>
          <a:graphicData uri="http://schemas.openxmlformats.org/drawingml/2006/table">
            <a:tbl>
              <a:tblPr>
                <a:effectLst/>
              </a:tblPr>
              <a:tblGrid>
                <a:gridCol w="1651000"/>
                <a:gridCol w="2794000"/>
                <a:gridCol w="2794000"/>
                <a:gridCol w="3429000"/>
              </a:tblGrid>
              <a:tr h="390525">
                <a:tc>
                  <a:txBody>
                    <a:bodyPr rtlCol="0"/>
                    <a:lstStyle/>
                    <a:p>
                      <a:pPr marL="0" indent="0" algn="ctr">
                        <a:lnSpc>
                          <a:spcPct val="100000"/>
                        </a:lnSpc>
                        <a:defRPr/>
                      </a:pPr>
                      <a:r>
                        <a:rPr lang="en-US" sz="1100" b="1" i="0" u="none" strike="noStrike">
                          <a:solidFill>
                            <a:srgbClr val="FFFFFF"/>
                          </a:solidFill>
                          <a:latin typeface="Inter"/>
                          <a:ea typeface="Inter"/>
                          <a:cs typeface="Inter"/>
                          <a:sym typeface="Inter"/>
                        </a:rPr>
                        <a:t>Scenario</a:t>
                      </a:r>
                      <a:endParaRPr lang="en-US" sz="1100"/>
                    </a:p>
                  </a:txBody>
                  <a:tcPr marL="101600" marR="101600" marT="101600" marB="101600" anchor="t" anchorCtr="0">
                    <a:lnL>
                      <a:noFill/>
                    </a:lnL>
                    <a:lnR>
                      <a:noFill/>
                    </a:lnR>
                    <a:lnT>
                      <a:noFill/>
                    </a:lnT>
                    <a:lnB>
                      <a:noFill/>
                    </a:lnB>
                    <a:solidFill>
                      <a:srgbClr val="0D1326">
                        <a:alpha val="100000"/>
                      </a:srgbClr>
                    </a:solidFill>
                  </a:tcPr>
                </a:tc>
                <a:tc>
                  <a:txBody>
                    <a:bodyPr rtlCol="0"/>
                    <a:lstStyle/>
                    <a:p>
                      <a:pPr marL="0" indent="0" algn="ctr">
                        <a:lnSpc>
                          <a:spcPct val="100000"/>
                        </a:lnSpc>
                        <a:defRPr/>
                      </a:pPr>
                      <a:r>
                        <a:rPr lang="en-US" sz="1100" b="1" i="0" u="none" strike="noStrike">
                          <a:solidFill>
                            <a:srgbClr val="FFFFFF"/>
                          </a:solidFill>
                          <a:latin typeface="Inter"/>
                          <a:ea typeface="Inter"/>
                          <a:cs typeface="Inter"/>
                          <a:sym typeface="Inter"/>
                        </a:rPr>
                        <a:t>Inbound</a:t>
                      </a:r>
                      <a:endParaRPr lang="en-US" sz="1100"/>
                    </a:p>
                  </a:txBody>
                  <a:tcPr marL="101600" marR="101600" marT="101600" marB="101600" anchor="t" anchorCtr="0">
                    <a:lnL>
                      <a:noFill/>
                    </a:lnL>
                    <a:lnR>
                      <a:noFill/>
                    </a:lnR>
                    <a:lnT>
                      <a:noFill/>
                    </a:lnT>
                    <a:lnB>
                      <a:noFill/>
                    </a:lnB>
                    <a:solidFill>
                      <a:srgbClr val="0D1326">
                        <a:alpha val="100000"/>
                      </a:srgbClr>
                    </a:solidFill>
                  </a:tcPr>
                </a:tc>
                <a:tc>
                  <a:txBody>
                    <a:bodyPr rtlCol="0"/>
                    <a:lstStyle/>
                    <a:p>
                      <a:pPr marL="0" indent="0" algn="ctr">
                        <a:lnSpc>
                          <a:spcPct val="100000"/>
                        </a:lnSpc>
                        <a:defRPr/>
                      </a:pPr>
                      <a:r>
                        <a:rPr lang="en-US" sz="1100" b="1" i="0" u="none" strike="noStrike">
                          <a:solidFill>
                            <a:srgbClr val="FFFFFF"/>
                          </a:solidFill>
                          <a:latin typeface="Inter"/>
                          <a:ea typeface="Inter"/>
                          <a:cs typeface="Inter"/>
                          <a:sym typeface="Inter"/>
                        </a:rPr>
                        <a:t>Outbound</a:t>
                      </a:r>
                      <a:endParaRPr lang="en-US" sz="1100"/>
                    </a:p>
                  </a:txBody>
                  <a:tcPr marL="101600" marR="101600" marT="101600" marB="101600" anchor="t" anchorCtr="0">
                    <a:lnL>
                      <a:noFill/>
                    </a:lnL>
                    <a:lnR>
                      <a:noFill/>
                    </a:lnR>
                    <a:lnT>
                      <a:noFill/>
                    </a:lnT>
                    <a:lnB>
                      <a:noFill/>
                    </a:lnB>
                    <a:solidFill>
                      <a:srgbClr val="0D1326">
                        <a:alpha val="100000"/>
                      </a:srgbClr>
                    </a:solidFill>
                  </a:tcPr>
                </a:tc>
                <a:tc>
                  <a:txBody>
                    <a:bodyPr rtlCol="0"/>
                    <a:lstStyle/>
                    <a:p>
                      <a:pPr marL="0" indent="0" algn="ctr">
                        <a:lnSpc>
                          <a:spcPct val="100000"/>
                        </a:lnSpc>
                        <a:defRPr/>
                      </a:pPr>
                      <a:r>
                        <a:rPr lang="en-US" sz="1100" b="1" i="0" u="none" strike="noStrike">
                          <a:solidFill>
                            <a:srgbClr val="FFFFFF"/>
                          </a:solidFill>
                          <a:latin typeface="Inter"/>
                          <a:ea typeface="Inter"/>
                          <a:cs typeface="Inter"/>
                          <a:sym typeface="Inter"/>
                        </a:rPr>
                        <a:t>Rule / logic</a:t>
                      </a:r>
                      <a:endParaRPr lang="en-US" sz="1100"/>
                    </a:p>
                  </a:txBody>
                  <a:tcPr marL="101600" marR="101600" marT="101600" marB="101600" anchor="t" anchorCtr="0">
                    <a:lnL>
                      <a:noFill/>
                    </a:lnL>
                    <a:lnR>
                      <a:noFill/>
                    </a:lnR>
                    <a:lnT>
                      <a:noFill/>
                    </a:lnT>
                    <a:lnB>
                      <a:noFill/>
                    </a:lnB>
                    <a:solidFill>
                      <a:srgbClr val="0D1326">
                        <a:alpha val="100000"/>
                      </a:srgbClr>
                    </a:solidFill>
                  </a:tcPr>
                </a:tc>
              </a:tr>
              <a:tr h="5232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Mobile</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+8613800138000</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1" i="0" u="none" strike="noStrike">
                          <a:solidFill>
                            <a:srgbClr val="2563EB"/>
                          </a:solidFill>
                          <a:latin typeface="Inter"/>
                          <a:ea typeface="Inter"/>
                          <a:cs typeface="Inter"/>
                          <a:sym typeface="Inter"/>
                        </a:rPr>
                        <a:t>013800138000</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000" b="0" i="0" u="none" strike="noStrike">
                          <a:solidFill>
                            <a:srgbClr val="536174"/>
                          </a:solidFill>
                          <a:latin typeface="Inter"/>
                          <a:ea typeface="Inter"/>
                          <a:cs typeface="Inter"/>
                          <a:sym typeface="Inter"/>
                        </a:rPr>
                        <a:t>R-MOB-CM-40 - strip +86, prepend 0</a:t>
                      </a:r>
                      <a:endParaRPr lang="en-US" sz="1100"/>
                    </a:p>
                  </a:txBody>
                  <a:tcPr marL="101600" marR="101600" marT="101600" marB="101600" anchor="t" anchorCtr="0">
                    <a:lnL>
                      <a:noFill/>
                    </a:lnL>
                    <a:lnR>
                      <a:noFill/>
                    </a:lnR>
                    <a:lnT>
                      <a:noFill/>
                    </a:lnT>
                    <a:lnB>
                      <a:noFill/>
                    </a:lnB>
                    <a:noFill/>
                  </a:tcPr>
                </a:tc>
              </a:tr>
              <a:tr h="523875">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Shanghai fixed</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+862161800001</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1" i="0" u="none" strike="noStrike">
                          <a:solidFill>
                            <a:srgbClr val="2563EB"/>
                          </a:solidFill>
                          <a:latin typeface="Inter"/>
                          <a:ea typeface="Inter"/>
                          <a:cs typeface="Inter"/>
                          <a:sym typeface="Inter"/>
                        </a:rPr>
                        <a:t>02161800001</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000" b="0" i="0" u="none" strike="noStrike">
                          <a:solidFill>
                            <a:srgbClr val="536174"/>
                          </a:solidFill>
                          <a:latin typeface="Inter"/>
                          <a:ea typeface="Inter"/>
                          <a:cs typeface="Inter"/>
                          <a:sym typeface="Inter"/>
                        </a:rPr>
                        <a:t>R-FIX-SH-60 - strip +86, prepend 0</a:t>
                      </a:r>
                      <a:endParaRPr lang="en-US" sz="1100"/>
                    </a:p>
                  </a:txBody>
                  <a:tcPr marL="101600" marR="101600" marT="101600" marB="101600" anchor="t" anchorCtr="0">
                    <a:lnL>
                      <a:noFill/>
                    </a:lnL>
                    <a:lnR>
                      <a:noFill/>
                    </a:lnR>
                    <a:lnT>
                      <a:noFill/>
                    </a:lnT>
                    <a:lnB>
                      <a:noFill/>
                    </a:lnB>
                    <a:noFill/>
                  </a:tcPr>
                </a:tc>
              </a:tr>
              <a:tr h="523875">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PBX extension</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6001</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1" i="0" u="none" strike="noStrike">
                          <a:solidFill>
                            <a:srgbClr val="2563EB"/>
                          </a:solidFill>
                          <a:latin typeface="Inter"/>
                          <a:ea typeface="Inter"/>
                          <a:cs typeface="Inter"/>
                          <a:sym typeface="Inter"/>
                        </a:rPr>
                        <a:t>+86216186001</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000" b="0" i="0" u="none" strike="noStrike">
                          <a:solidFill>
                            <a:srgbClr val="536174"/>
                          </a:solidFill>
                          <a:latin typeface="Inter"/>
                          <a:ea typeface="Inter"/>
                          <a:cs typeface="Inter"/>
                          <a:sym typeface="Inter"/>
                        </a:rPr>
                        <a:t>R-PBX-30 - prefix +8621618</a:t>
                      </a:r>
                      <a:endParaRPr lang="en-US" sz="1100"/>
                    </a:p>
                  </a:txBody>
                  <a:tcPr marL="101600" marR="101600" marT="101600" marB="101600" anchor="t" anchorCtr="0">
                    <a:lnL>
                      <a:noFill/>
                    </a:lnL>
                    <a:lnR>
                      <a:noFill/>
                    </a:lnR>
                    <a:lnT>
                      <a:noFill/>
                    </a:lnT>
                    <a:lnB>
                      <a:noFill/>
                    </a:lnB>
                    <a:noFill/>
                  </a:tcPr>
                </a:tc>
              </a:tr>
              <a:tr h="523875">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International</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0012125550100</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1" i="0" u="none" strike="noStrike">
                          <a:solidFill>
                            <a:srgbClr val="2563EB"/>
                          </a:solidFill>
                          <a:latin typeface="Inter"/>
                          <a:ea typeface="Inter"/>
                          <a:cs typeface="Inter"/>
                          <a:sym typeface="Inter"/>
                        </a:rPr>
                        <a:t>+12125550100</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000" b="0" i="0" u="none" strike="noStrike">
                          <a:solidFill>
                            <a:srgbClr val="536174"/>
                          </a:solidFill>
                          <a:latin typeface="Inter"/>
                          <a:ea typeface="Inter"/>
                          <a:cs typeface="Inter"/>
                          <a:sym typeface="Inter"/>
                        </a:rPr>
                        <a:t>R-INTL-80 - strip 00, prepend +</a:t>
                      </a:r>
                      <a:endParaRPr lang="en-US" sz="1100"/>
                    </a:p>
                  </a:txBody>
                  <a:tcPr marL="101600" marR="101600" marT="101600" marB="101600" anchor="t" anchorCtr="0">
                    <a:lnL>
                      <a:noFill/>
                    </a:lnL>
                    <a:lnR>
                      <a:noFill/>
                    </a:lnR>
                    <a:lnT>
                      <a:noFill/>
                    </a:lnT>
                    <a:lnB>
                      <a:noFill/>
                    </a:lnB>
                    <a:noFill/>
                  </a:tcPr>
                </a:tc>
              </a:tr>
              <a:tr h="5232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Emergency</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110</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1" i="0" u="none" strike="noStrike">
                          <a:solidFill>
                            <a:srgbClr val="2563EB"/>
                          </a:solidFill>
                          <a:latin typeface="Inter"/>
                          <a:ea typeface="Inter"/>
                          <a:cs typeface="Inter"/>
                          <a:sym typeface="Inter"/>
                        </a:rPr>
                        <a:t>110</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000" b="0" i="0" u="none" strike="noStrike">
                          <a:solidFill>
                            <a:srgbClr val="536174"/>
                          </a:solidFill>
                          <a:latin typeface="Inter"/>
                          <a:ea typeface="Inter"/>
                          <a:cs typeface="Inter"/>
                          <a:sym typeface="Inter"/>
                        </a:rPr>
                        <a:t>R-EMG-01 - pass through unchanged</a:t>
                      </a:r>
                      <a:endParaRPr lang="en-US" sz="1100"/>
                    </a:p>
                  </a:txBody>
                  <a:tcPr marL="101600" marR="101600" marT="101600" marB="101600" anchor="t" anchorCtr="0">
                    <a:lnL>
                      <a:noFill/>
                    </a:lnL>
                    <a:lnR>
                      <a:noFill/>
                    </a:lnR>
                    <a:lnT>
                      <a:noFill/>
                    </a:lnT>
                    <a:lnB>
                      <a:noFill/>
                    </a:lnB>
                    <a:noFill/>
                  </a:tcPr>
                </a:tc>
              </a:tr>
              <a:tr h="51435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Blocked service</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+861681234567</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1" i="0" u="none" strike="noStrike">
                          <a:solidFill>
                            <a:srgbClr val="C9302C"/>
                          </a:solidFill>
                          <a:latin typeface="Inter"/>
                          <a:ea typeface="Inter"/>
                          <a:cs typeface="Inter"/>
                          <a:sym typeface="Inter"/>
                        </a:rPr>
                        <a:t>603 Decline</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000" b="0" i="0" u="none" strike="noStrike">
                          <a:solidFill>
                            <a:srgbClr val="536174"/>
                          </a:solidFill>
                          <a:latin typeface="Inter"/>
                          <a:ea typeface="Inter"/>
                          <a:cs typeface="Inter"/>
                          <a:sym typeface="Inter"/>
                        </a:rPr>
                        <a:t>R-BLOCK-90 - policy rejection</a:t>
                      </a:r>
                      <a:endParaRPr lang="en-US" sz="1100"/>
                    </a:p>
                  </a:txBody>
                  <a:tcPr marL="101600" marR="101600" marT="101600" marB="101600" anchor="t" anchorCtr="0">
                    <a:lnL>
                      <a:noFill/>
                    </a:lnL>
                    <a:lnR>
                      <a:noFill/>
                    </a:lnR>
                    <a:lnT>
                      <a:noFill/>
                    </a:lnT>
                    <a:lnB>
                      <a:noFill/>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06 / ERROR HANDLING</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Four error branches with explicit SIP responses</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nvSpPr>
        <p:spPr>
          <a:xfrm>
            <a:off x="762000" y="1714500"/>
            <a:ext cx="2540000" cy="2286000"/>
          </a:xfrm>
          <a:prstGeom prst="roundRect">
            <a:avLst>
              <a:gd name="adj" fmla="val 0"/>
            </a:avLst>
          </a:prstGeom>
          <a:solidFill>
            <a:srgbClr val="FFFFFF">
              <a:alpha val="100000"/>
            </a:srgbClr>
          </a:solidFill>
          <a:ln w="12700" cap="flat" cmpd="sng">
            <a:solidFill>
              <a:srgbClr val="CBD5E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2032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C9302C"/>
                </a:solidFill>
                <a:latin typeface="Inter"/>
                <a:ea typeface="Inter"/>
                <a:cs typeface="Inter"/>
                <a:sym typeface="Inter"/>
              </a:rPr>
              <a:t>404</a:t>
            </a:r>
            <a:endParaRPr lang="en-US" sz="1100"/>
          </a:p>
        </p:txBody>
      </p:sp>
      <p:sp>
        <p:nvSpPr>
          <p:cNvPr id="7" name="AutoShape 7"/>
          <p:cNvSpPr/>
          <p:nvPr/>
        </p:nvSpPr>
        <p:spPr>
          <a:xfrm>
            <a:off x="1016000" y="2349500"/>
            <a:ext cx="203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D1326"/>
                </a:solidFill>
                <a:latin typeface="Inter"/>
                <a:ea typeface="Inter"/>
                <a:cs typeface="Inter"/>
                <a:sym typeface="Inter"/>
              </a:rPr>
              <a:t>No matching rule</a:t>
            </a:r>
            <a:endParaRPr lang="en-US" sz="1100"/>
          </a:p>
        </p:txBody>
      </p:sp>
      <p:cxnSp>
        <p:nvCxnSpPr>
          <p:cNvPr id="8" name="Connector 8"/>
          <p:cNvCxnSpPr/>
          <p:nvPr/>
        </p:nvCxnSpPr>
        <p:spPr>
          <a:xfrm rot="-21485">
            <a:off x="1016020" y="2686050"/>
            <a:ext cx="2032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9" name="AutoShape 9"/>
          <p:cNvSpPr/>
          <p:nvPr/>
        </p:nvSpPr>
        <p:spPr>
          <a:xfrm>
            <a:off x="1016000" y="28194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Callee matches no enabled rule</a:t>
            </a:r>
            <a:endParaRPr lang="en-US" sz="1100"/>
          </a:p>
          <a:p>
            <a:pPr marL="0" indent="0" algn="l">
              <a:lnSpc>
                <a:spcPct val="133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Error: AS-ROUTE-001</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e.g. +9991234567</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3683000" y="1714500"/>
            <a:ext cx="2540000" cy="2286000"/>
          </a:xfrm>
          <a:prstGeom prst="roundRect">
            <a:avLst>
              <a:gd name="adj" fmla="val 0"/>
            </a:avLst>
          </a:prstGeom>
          <a:solidFill>
            <a:srgbClr val="FFFFFF">
              <a:alpha val="100000"/>
            </a:srgbClr>
          </a:solidFill>
          <a:ln w="12700" cap="flat" cmpd="sng">
            <a:solidFill>
              <a:srgbClr val="CBD5E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937000" y="1905000"/>
            <a:ext cx="2032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C9302C"/>
                </a:solidFill>
                <a:latin typeface="Inter"/>
                <a:ea typeface="Inter"/>
                <a:cs typeface="Inter"/>
                <a:sym typeface="Inter"/>
              </a:rPr>
              <a:t>603</a:t>
            </a:r>
            <a:endParaRPr lang="en-US" sz="1100"/>
          </a:p>
        </p:txBody>
      </p:sp>
      <p:sp>
        <p:nvSpPr>
          <p:cNvPr id="12" name="AutoShape 12"/>
          <p:cNvSpPr/>
          <p:nvPr/>
        </p:nvSpPr>
        <p:spPr>
          <a:xfrm>
            <a:off x="3937000" y="2349500"/>
            <a:ext cx="203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D1326"/>
                </a:solidFill>
                <a:latin typeface="Inter"/>
                <a:ea typeface="Inter"/>
                <a:cs typeface="Inter"/>
                <a:sym typeface="Inter"/>
              </a:rPr>
              <a:t>Policy rejection</a:t>
            </a:r>
            <a:endParaRPr lang="en-US" sz="1100"/>
          </a:p>
        </p:txBody>
      </p:sp>
      <p:cxnSp>
        <p:nvCxnSpPr>
          <p:cNvPr id="13" name="Connector 13"/>
          <p:cNvCxnSpPr/>
          <p:nvPr/>
        </p:nvCxnSpPr>
        <p:spPr>
          <a:xfrm rot="-21485">
            <a:off x="3937020" y="2686050"/>
            <a:ext cx="2032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14" name="AutoShape 14"/>
          <p:cNvSpPr/>
          <p:nvPr/>
        </p:nvSpPr>
        <p:spPr>
          <a:xfrm>
            <a:off x="3937000" y="28194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Rule action = reject (blocked services)</a:t>
            </a:r>
            <a:endParaRPr lang="en-US" sz="1100"/>
          </a:p>
          <a:p>
            <a:pPr marL="0" indent="0" algn="l">
              <a:lnSpc>
                <a:spcPct val="133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Error: AS-ROUTE-002</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e.g. +861681234567</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604000" y="1714500"/>
            <a:ext cx="2540000" cy="2286000"/>
          </a:xfrm>
          <a:prstGeom prst="roundRect">
            <a:avLst>
              <a:gd name="adj" fmla="val 0"/>
            </a:avLst>
          </a:prstGeom>
          <a:solidFill>
            <a:srgbClr val="FFFFFF">
              <a:alpha val="100000"/>
            </a:srgbClr>
          </a:solidFill>
          <a:ln w="12700" cap="flat" cmpd="sng">
            <a:solidFill>
              <a:srgbClr val="CBD5E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858000" y="1905000"/>
            <a:ext cx="2032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D97706"/>
                </a:solidFill>
                <a:latin typeface="Inter"/>
                <a:ea typeface="Inter"/>
                <a:cs typeface="Inter"/>
                <a:sym typeface="Inter"/>
              </a:rPr>
              <a:t>CANCEL</a:t>
            </a:r>
            <a:endParaRPr lang="en-US" sz="1100"/>
          </a:p>
        </p:txBody>
      </p:sp>
      <p:sp>
        <p:nvSpPr>
          <p:cNvPr id="17" name="AutoShape 17"/>
          <p:cNvSpPr/>
          <p:nvPr/>
        </p:nvSpPr>
        <p:spPr>
          <a:xfrm>
            <a:off x="6858000" y="2349500"/>
            <a:ext cx="203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D1326"/>
                </a:solidFill>
                <a:latin typeface="Inter"/>
                <a:ea typeface="Inter"/>
                <a:cs typeface="Inter"/>
                <a:sym typeface="Inter"/>
              </a:rPr>
              <a:t>Caller cancels</a:t>
            </a:r>
            <a:endParaRPr lang="en-US" sz="1100"/>
          </a:p>
        </p:txBody>
      </p:sp>
      <p:cxnSp>
        <p:nvCxnSpPr>
          <p:cNvPr id="18" name="Connector 18"/>
          <p:cNvCxnSpPr/>
          <p:nvPr/>
        </p:nvCxnSpPr>
        <p:spPr>
          <a:xfrm rot="-21485">
            <a:off x="6858020" y="2686050"/>
            <a:ext cx="2032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19" name="AutoShape 19"/>
          <p:cNvSpPr/>
          <p:nvPr/>
        </p:nvSpPr>
        <p:spPr>
          <a:xfrm>
            <a:off x="6858000" y="2819400"/>
            <a:ext cx="203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Caller sends CANCEL before answer</a:t>
            </a:r>
            <a:endParaRPr lang="en-US" sz="1100"/>
          </a:p>
          <a:p>
            <a:pPr marL="0" indent="0" algn="l">
              <a:lnSpc>
                <a:spcPct val="133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Response: 487 Request Terminated</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Release upstream leg</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9525000" y="1714500"/>
            <a:ext cx="1905000" cy="2286000"/>
          </a:xfrm>
          <a:prstGeom prst="roundRect">
            <a:avLst>
              <a:gd name="adj" fmla="val 0"/>
            </a:avLst>
          </a:prstGeom>
          <a:solidFill>
            <a:srgbClr val="FFFFFF">
              <a:alpha val="100000"/>
            </a:srgbClr>
          </a:solidFill>
          <a:ln w="12700" cap="flat" cmpd="sng">
            <a:solidFill>
              <a:srgbClr val="CBD5E1">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9715500" y="1905000"/>
            <a:ext cx="1524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C9302C"/>
                </a:solidFill>
                <a:latin typeface="Inter"/>
                <a:ea typeface="Inter"/>
                <a:cs typeface="Inter"/>
                <a:sym typeface="Inter"/>
              </a:rPr>
              <a:t>403</a:t>
            </a:r>
            <a:endParaRPr lang="en-US" sz="1100"/>
          </a:p>
        </p:txBody>
      </p:sp>
      <p:sp>
        <p:nvSpPr>
          <p:cNvPr id="22" name="AutoShape 22"/>
          <p:cNvSpPr/>
          <p:nvPr/>
        </p:nvSpPr>
        <p:spPr>
          <a:xfrm>
            <a:off x="9715500" y="23495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D1326"/>
                </a:solidFill>
                <a:latin typeface="Inter"/>
                <a:ea typeface="Inter"/>
                <a:cs typeface="Inter"/>
                <a:sym typeface="Inter"/>
              </a:rPr>
              <a:t>Unknown peer</a:t>
            </a:r>
            <a:endParaRPr lang="en-US" sz="1100"/>
          </a:p>
        </p:txBody>
      </p:sp>
      <p:cxnSp>
        <p:nvCxnSpPr>
          <p:cNvPr id="23" name="Connector 23"/>
          <p:cNvCxnSpPr/>
          <p:nvPr/>
        </p:nvCxnSpPr>
        <p:spPr>
          <a:xfrm rot="-28647">
            <a:off x="9715526" y="2686050"/>
            <a:ext cx="1524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24" name="AutoShape 24"/>
          <p:cNvSpPr/>
          <p:nvPr/>
        </p:nvSpPr>
        <p:spPr>
          <a:xfrm>
            <a:off x="9715500" y="2819400"/>
            <a:ext cx="152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Source not in whitelist</a:t>
            </a:r>
            <a:endParaRPr lang="en-US" sz="1100"/>
          </a:p>
          <a:p>
            <a:pPr marL="0" indent="0" algn="l">
              <a:lnSpc>
                <a:spcPct val="133000"/>
              </a:lnSpc>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Error: AS-PEER-001</a:t>
            </a:r>
            <a:endPar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5" name="Connector 25"/>
          <p:cNvCxnSpPr/>
          <p:nvPr/>
        </p:nvCxnSpPr>
        <p:spPr>
          <a:xfrm rot="-4092">
            <a:off x="762004" y="44386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26" name="AutoShape 26"/>
          <p:cNvSpPr/>
          <p:nvPr/>
        </p:nvSpPr>
        <p:spPr>
          <a:xfrm>
            <a:off x="762000" y="4635500"/>
            <a:ext cx="1066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Unified error code system</a:t>
            </a:r>
            <a:endParaRPr lang="en-US" sz="1100"/>
          </a:p>
          <a:p>
            <a:pPr marL="0" indent="0" algn="l">
              <a:lnSpc>
                <a:spcPct val="150000"/>
              </a:lnSpc>
            </a:pP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All internal errors use the </a:t>
            </a:r>
            <a:r>
              <a:rPr lang="en-US" sz="1200" b="0" i="0" u="none" strike="noStrike">
                <a:solidFill>
                  <a:srgbClr val="536174"/>
                </a:solidFill>
                <a:latin typeface="Inter"/>
                <a:ea typeface="Inter"/>
                <a:cs typeface="Inter"/>
                <a:sym typeface="Inter"/>
              </a:rPr>
              <a:t>AS-XXX-NNN</a:t>
            </a: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format, mapped to SIP status codes in errors.py. Every error has structured logging fields and an acceptance test.</a:t>
            </a:r>
            <a:endPar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Next-hop failover: when the primary next hop does not respond within 3 seconds, the backup is tried automatically - transparent to the caller.</a:t>
            </a:r>
            <a:endPar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07 / OBSERVABILITY</a:t>
            </a:r>
            <a:endParaRPr lang="en-US" sz="1100"/>
          </a:p>
        </p:txBody>
      </p:sp>
      <p:sp>
        <p:nvSpPr>
          <p:cNvPr id="3" name="AutoShape 3"/>
          <p:cNvSpPr/>
          <p:nvPr/>
        </p:nvSpPr>
        <p:spPr>
          <a:xfrm>
            <a:off x="762000" y="762000"/>
            <a:ext cx="1092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Carrier-grade observability: structured logs, Call-ID tracing</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nvSpPr>
        <p:spPr>
          <a:xfrm>
            <a:off x="762000" y="15875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Inter"/>
                <a:ea typeface="Inter"/>
                <a:cs typeface="Inter"/>
                <a:sym typeface="Inter"/>
              </a:rPr>
              <a:t>Structured logging &amp; end-to-end tracing</a:t>
            </a:r>
            <a:endParaRPr lang="en-US" sz="1100"/>
          </a:p>
        </p:txBody>
      </p:sp>
      <p:sp>
        <p:nvSpPr>
          <p:cNvPr id="6" name="AutoShape 6"/>
          <p:cNvSpPr/>
          <p:nvPr/>
        </p:nvSpPr>
        <p:spPr>
          <a:xfrm>
            <a:off x="762000" y="1968500"/>
            <a:ext cx="5080000" cy="2540000"/>
          </a:xfrm>
          <a:prstGeom prst="roundRect">
            <a:avLst>
              <a:gd name="adj" fmla="val 0"/>
            </a:avLst>
          </a:prstGeom>
          <a:solidFill>
            <a:srgbClr val="0D13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095500"/>
            <a:ext cx="4699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100" b="0" i="0" u="none" strike="noStrike">
                <a:solidFill>
                  <a:srgbClr val="94A3B8"/>
                </a:solidFill>
                <a:latin typeface="Roboto Mono"/>
                <a:ea typeface="Roboto Mono"/>
                <a:cs typeface="Roboto Mono"/>
                <a:sym typeface="Roboto Mono"/>
              </a:rPr>
              <a:t>{</a:t>
            </a:r>
            <a:endParaRPr lang="en-US" sz="1100"/>
          </a:p>
          <a:p>
            <a:pPr marL="0" indent="0" algn="l">
              <a:lnSpc>
                <a:spcPct val="133000"/>
              </a:lnSpc>
            </a:pPr>
            <a:r>
              <a:rPr lang="en-US" sz="1100" b="0" i="0" u="none" strike="noStrike">
                <a:solidFill>
                  <a:srgbClr val="86EFAC"/>
                </a:solidFill>
                <a:latin typeface="Roboto Mono"/>
                <a:ea typeface="Roboto Mono"/>
                <a:cs typeface="Roboto Mono"/>
                <a:sym typeface="Roboto Mono"/>
              </a:rPr>
              <a:t>"timestamp"</a:t>
            </a:r>
            <a:r>
              <a:rPr lang="en-US" sz="1100" b="0" i="0" u="none" strike="noStrike">
                <a:solidFill>
                  <a:srgbClr val="BFD7FF"/>
                </a:solidFill>
                <a:latin typeface="Roboto Mono"/>
                <a:ea typeface="Roboto Mono"/>
                <a:cs typeface="Roboto Mono"/>
                <a:sym typeface="Roboto Mono"/>
              </a:rPr>
              <a:t>: "2026-09-16T10:23:41Z",</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86EFAC"/>
                </a:solidFill>
                <a:latin typeface="Roboto Mono"/>
                <a:ea typeface="Roboto Mono"/>
                <a:cs typeface="Roboto Mono"/>
                <a:sym typeface="Roboto Mono"/>
              </a:rPr>
              <a:t>"level"</a:t>
            </a:r>
            <a:r>
              <a:rPr lang="en-US" sz="1100" b="0" i="0" u="none" strike="noStrike">
                <a:solidFill>
                  <a:srgbClr val="BFD7FF"/>
                </a:solidFill>
                <a:latin typeface="Roboto Mono"/>
                <a:ea typeface="Roboto Mono"/>
                <a:cs typeface="Roboto Mono"/>
                <a:sym typeface="Roboto Mono"/>
              </a:rPr>
              <a:t>: "INFO",</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86EFAC"/>
                </a:solidFill>
                <a:latin typeface="Roboto Mono"/>
                <a:ea typeface="Roboto Mono"/>
                <a:cs typeface="Roboto Mono"/>
                <a:sym typeface="Roboto Mono"/>
              </a:rPr>
              <a:t>"call_id"</a:t>
            </a:r>
            <a:r>
              <a:rPr lang="en-US" sz="1100" b="0" i="0" u="none" strike="noStrike">
                <a:solidFill>
                  <a:srgbClr val="BFD7FF"/>
                </a:solidFill>
                <a:latin typeface="Roboto Mono"/>
                <a:ea typeface="Roboto Mono"/>
                <a:cs typeface="Roboto Mono"/>
                <a:sym typeface="Roboto Mono"/>
              </a:rPr>
              <a:t>: "call-001@office.example",</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86EFAC"/>
                </a:solidFill>
                <a:latin typeface="Roboto Mono"/>
                <a:ea typeface="Roboto Mono"/>
                <a:cs typeface="Roboto Mono"/>
                <a:sym typeface="Roboto Mono"/>
              </a:rPr>
              <a:t>"direction"</a:t>
            </a:r>
            <a:r>
              <a:rPr lang="en-US" sz="1100" b="0" i="0" u="none" strike="noStrike">
                <a:solidFill>
                  <a:srgbClr val="BFD7FF"/>
                </a:solidFill>
                <a:latin typeface="Roboto Mono"/>
                <a:ea typeface="Roboto Mono"/>
                <a:cs typeface="Roboto Mono"/>
                <a:sym typeface="Roboto Mono"/>
              </a:rPr>
              <a:t>: "inbound",</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86EFAC"/>
                </a:solidFill>
                <a:latin typeface="Roboto Mono"/>
                <a:ea typeface="Roboto Mono"/>
                <a:cs typeface="Roboto Mono"/>
                <a:sym typeface="Roboto Mono"/>
              </a:rPr>
              <a:t>"peer"</a:t>
            </a:r>
            <a:r>
              <a:rPr lang="en-US" sz="1100" b="0" i="0" u="none" strike="noStrike">
                <a:solidFill>
                  <a:srgbClr val="BFD7FF"/>
                </a:solidFill>
                <a:latin typeface="Roboto Mono"/>
                <a:ea typeface="Roboto Mono"/>
                <a:cs typeface="Roboto Mono"/>
                <a:sym typeface="Roboto Mono"/>
              </a:rPr>
              <a:t>: "127.0.0.1:15060",</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86EFAC"/>
                </a:solidFill>
                <a:latin typeface="Roboto Mono"/>
                <a:ea typeface="Roboto Mono"/>
                <a:cs typeface="Roboto Mono"/>
                <a:sym typeface="Roboto Mono"/>
              </a:rPr>
              <a:t>"rule_id"</a:t>
            </a:r>
            <a:r>
              <a:rPr lang="en-US" sz="1100" b="0" i="0" u="none" strike="noStrike">
                <a:solidFill>
                  <a:srgbClr val="BFD7FF"/>
                </a:solidFill>
                <a:latin typeface="Roboto Mono"/>
                <a:ea typeface="Roboto Mono"/>
                <a:cs typeface="Roboto Mono"/>
                <a:sym typeface="Roboto Mono"/>
              </a:rPr>
              <a:t>: "R-MOB-CM-40",</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86EFAC"/>
                </a:solidFill>
                <a:latin typeface="Roboto Mono"/>
                <a:ea typeface="Roboto Mono"/>
                <a:cs typeface="Roboto Mono"/>
                <a:sym typeface="Roboto Mono"/>
              </a:rPr>
              <a:t>"event"</a:t>
            </a:r>
            <a:r>
              <a:rPr lang="en-US" sz="1100" b="0" i="0" u="none" strike="noStrike">
                <a:solidFill>
                  <a:srgbClr val="BFD7FF"/>
                </a:solidFill>
                <a:latin typeface="Roboto Mono"/>
                <a:ea typeface="Roboto Mono"/>
                <a:cs typeface="Roboto Mono"/>
                <a:sym typeface="Roboto Mono"/>
              </a:rPr>
              <a:t>: "call_relayed"</a:t>
            </a:r>
            <a:endParaRPr lang="en-US" sz="1100" b="0" i="0" u="none" strike="noStrike">
              <a:solidFill>
                <a:srgbClr val="BFD7FF"/>
              </a:solidFill>
              <a:latin typeface="Roboto Mono"/>
              <a:ea typeface="Roboto Mono"/>
              <a:cs typeface="Roboto Mono"/>
              <a:sym typeface="Roboto Mono"/>
            </a:endParaRPr>
          </a:p>
          <a:p>
            <a:pPr marL="0" indent="0" algn="l">
              <a:lnSpc>
                <a:spcPct val="133000"/>
              </a:lnSpc>
            </a:pPr>
            <a:r>
              <a:rPr lang="en-US" sz="1100" b="0" i="0" u="none" strike="noStrike">
                <a:solidFill>
                  <a:srgbClr val="94A3B8"/>
                </a:solidFill>
                <a:latin typeface="Roboto Mono"/>
                <a:ea typeface="Roboto Mono"/>
                <a:cs typeface="Roboto Mono"/>
                <a:sym typeface="Roboto Mono"/>
              </a:rPr>
              <a:t>}</a:t>
            </a:r>
            <a:endParaRPr lang="en-US" sz="1100" b="0" i="0" u="none" strike="noStrike">
              <a:solidFill>
                <a:srgbClr val="94A3B8"/>
              </a:solidFill>
              <a:latin typeface="Roboto Mono"/>
              <a:ea typeface="Roboto Mono"/>
              <a:cs typeface="Roboto Mono"/>
              <a:sym typeface="Roboto Mono"/>
            </a:endParaRPr>
          </a:p>
        </p:txBody>
      </p:sp>
      <p:sp>
        <p:nvSpPr>
          <p:cNvPr id="8" name="AutoShape 8"/>
          <p:cNvSpPr/>
          <p:nvPr/>
        </p:nvSpPr>
        <p:spPr>
          <a:xfrm>
            <a:off x="762000" y="4699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Every log line carries the Call-ID, linking both legs of a call. Built-in counters cover total calls, disposition breakdown, error code distribution, rule hit distribution, and peer status.</a:t>
            </a:r>
            <a:endParaRPr lang="en-US" sz="1100"/>
          </a:p>
        </p:txBody>
      </p:sp>
      <p:sp>
        <p:nvSpPr>
          <p:cNvPr id="9" name="AutoShape 9"/>
          <p:cNvSpPr/>
          <p:nvPr/>
        </p:nvSpPr>
        <p:spPr>
          <a:xfrm>
            <a:off x="6350000" y="15875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Inter"/>
                <a:ea typeface="Inter"/>
                <a:cs typeface="Inter"/>
                <a:sym typeface="Inter"/>
              </a:rPr>
              <a:t>Ops console (separate process)</a:t>
            </a:r>
            <a:endParaRPr lang="en-US" sz="1100"/>
          </a:p>
        </p:txBody>
      </p:sp>
      <p:sp>
        <p:nvSpPr>
          <p:cNvPr id="10" name="AutoShape 10"/>
          <p:cNvSpPr/>
          <p:nvPr/>
        </p:nvSpPr>
        <p:spPr>
          <a:xfrm>
            <a:off x="6350000" y="2032000"/>
            <a:ext cx="5080000" cy="3937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message flow</a:t>
            </a: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direction color-coded, Call-ID filter, payload expansion</a:t>
            </a:r>
            <a:endParaRPr lang="en-US" sz="1100"/>
          </a:p>
          <a:p>
            <a:pPr marL="0" indent="0" algn="l">
              <a:lnSpc>
                <a:spcPct val="158000"/>
              </a:lnSpc>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Rule hit highlight</a:t>
            </a: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which rule each call matched, at a glance</a:t>
            </a:r>
            <a:endPar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Stats panel</a:t>
            </a: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call volume, disposition, rule hit bar charts</a:t>
            </a:r>
            <a:endPar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SVG topology</a:t>
            </a: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real-time call path from S-SBC to next hop</a:t>
            </a:r>
            <a:endPar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Dark ops theme</a:t>
            </a: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pure HTML/CSS/JS, zero frontend dependencies</a:t>
            </a:r>
            <a:endPar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WebSocket push</a:t>
            </a: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- 1s poll of TraceRecorder for incremental events</a:t>
            </a:r>
            <a:endPar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08 / TECH &amp; ADR</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Six architecture decision records lock the tech stack</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nvSpPr>
        <p:spPr>
          <a:xfrm>
            <a:off x="762000" y="15875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Inter"/>
                <a:ea typeface="Inter"/>
                <a:cs typeface="Inter"/>
                <a:sym typeface="Inter"/>
              </a:rPr>
              <a:t>Tech stack (locked)</a:t>
            </a:r>
            <a:endParaRPr lang="en-US" sz="1100"/>
          </a:p>
        </p:txBody>
      </p:sp>
      <p:graphicFrame>
        <p:nvGraphicFramePr>
          <p:cNvPr id="6" name="Table 6"/>
          <p:cNvGraphicFramePr>
            <a:graphicFrameLocks noGrp="1"/>
          </p:cNvGraphicFramePr>
          <p:nvPr/>
        </p:nvGraphicFramePr>
        <p:xfrm>
          <a:off x="762000" y="2032000"/>
          <a:ext cx="4826000" cy="2966720"/>
        </p:xfrm>
        <a:graphic>
          <a:graphicData uri="http://schemas.openxmlformats.org/drawingml/2006/table">
            <a:tbl>
              <a:tblPr>
                <a:effectLst/>
              </a:tblPr>
              <a:tblGrid>
                <a:gridCol w="1778000"/>
                <a:gridCol w="3048000"/>
              </a:tblGrid>
              <a:tr h="3708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Language</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Python 3.10</a:t>
                      </a:r>
                      <a:endParaRPr lang="en-US" sz="1100"/>
                    </a:p>
                  </a:txBody>
                  <a:tcPr marL="101600" marR="101600" marT="101600" marB="101600" anchor="t" anchorCtr="0">
                    <a:lnL>
                      <a:noFill/>
                    </a:lnL>
                    <a:lnR>
                      <a:noFill/>
                    </a:lnR>
                    <a:lnT>
                      <a:noFill/>
                    </a:lnT>
                    <a:lnB>
                      <a:noFill/>
                    </a:lnB>
                    <a:noFill/>
                  </a:tcPr>
                </a:tc>
              </a:tr>
              <a:tr h="3708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SIP stack</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sippy 2.4.2 (RFC 3261)</a:t>
                      </a:r>
                      <a:endParaRPr lang="en-US" sz="1100"/>
                    </a:p>
                  </a:txBody>
                  <a:tcPr marL="101600" marR="101600" marT="101600" marB="101600" anchor="t" anchorCtr="0">
                    <a:lnL>
                      <a:noFill/>
                    </a:lnL>
                    <a:lnR>
                      <a:noFill/>
                    </a:lnR>
                    <a:lnT>
                      <a:noFill/>
                    </a:lnT>
                    <a:lnB>
                      <a:noFill/>
                    </a:lnB>
                    <a:noFill/>
                  </a:tcPr>
                </a:tc>
              </a:tr>
              <a:tr h="3708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Web</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FastAPI + uvicorn</a:t>
                      </a:r>
                      <a:endParaRPr lang="en-US" sz="1100"/>
                    </a:p>
                  </a:txBody>
                  <a:tcPr marL="101600" marR="101600" marT="101600" marB="101600" anchor="t" anchorCtr="0">
                    <a:lnL>
                      <a:noFill/>
                    </a:lnL>
                    <a:lnR>
                      <a:noFill/>
                    </a:lnR>
                    <a:lnT>
                      <a:noFill/>
                    </a:lnT>
                    <a:lnB>
                      <a:noFill/>
                    </a:lnB>
                    <a:noFill/>
                  </a:tcPr>
                </a:tc>
              </a:tr>
              <a:tr h="3708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Deps</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uv + uv.lock</a:t>
                      </a:r>
                      <a:endParaRPr lang="en-US" sz="1100"/>
                    </a:p>
                  </a:txBody>
                  <a:tcPr marL="101600" marR="101600" marT="101600" marB="101600" anchor="t" anchorCtr="0">
                    <a:lnL>
                      <a:noFill/>
                    </a:lnL>
                    <a:lnR>
                      <a:noFill/>
                    </a:lnR>
                    <a:lnT>
                      <a:noFill/>
                    </a:lnT>
                    <a:lnB>
                      <a:noFill/>
                    </a:lnB>
                    <a:noFill/>
                  </a:tcPr>
                </a:tc>
              </a:tr>
              <a:tr h="3708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Quality</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ruff - mypy - pytest</a:t>
                      </a:r>
                      <a:endParaRPr lang="en-US" sz="1100"/>
                    </a:p>
                  </a:txBody>
                  <a:tcPr marL="101600" marR="101600" marT="101600" marB="101600" anchor="t" anchorCtr="0">
                    <a:lnL>
                      <a:noFill/>
                    </a:lnL>
                    <a:lnR>
                      <a:noFill/>
                    </a:lnR>
                    <a:lnT>
                      <a:noFill/>
                    </a:lnT>
                    <a:lnB>
                      <a:noFill/>
                    </a:lnB>
                    <a:noFill/>
                  </a:tcPr>
                </a:tc>
              </a:tr>
              <a:tr h="3708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Deploy</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docker compose</a:t>
                      </a:r>
                      <a:endParaRPr lang="en-US" sz="1100"/>
                    </a:p>
                  </a:txBody>
                  <a:tcPr marL="101600" marR="101600" marT="101600" marB="101600" anchor="t" anchorCtr="0">
                    <a:lnL>
                      <a:noFill/>
                    </a:lnL>
                    <a:lnR>
                      <a:noFill/>
                    </a:lnR>
                    <a:lnT>
                      <a:noFill/>
                    </a:lnT>
                    <a:lnB>
                      <a:noFill/>
                    </a:lnB>
                    <a:noFill/>
                  </a:tcPr>
                </a:tc>
              </a:tr>
              <a:tr h="370840">
                <a:tc>
                  <a:txBody>
                    <a:bodyPr rtlCol="0"/>
                    <a:lstStyle/>
                    <a:p>
                      <a:pPr marL="0" indent="0" algn="l">
                        <a:lnSpc>
                          <a:spcPct val="100000"/>
                        </a:lnSpc>
                        <a:defRPr/>
                      </a:pPr>
                      <a:r>
                        <a:rPr lang="en-US" sz="1100" b="1" i="0" u="none" strike="noStrike">
                          <a:solidFill>
                            <a:srgbClr val="0D1326"/>
                          </a:solidFill>
                          <a:latin typeface="Inter"/>
                          <a:ea typeface="Inter"/>
                          <a:cs typeface="Inter"/>
                          <a:sym typeface="Inter"/>
                        </a:rPr>
                        <a:t>CICD</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536174"/>
                          </a:solidFill>
                          <a:latin typeface="Inter"/>
                          <a:ea typeface="Inter"/>
                          <a:cs typeface="Inter"/>
                          <a:sym typeface="Inter"/>
                        </a:rPr>
                        <a:t>github action</a:t>
                      </a:r>
                      <a:endParaRPr lang="en-US" sz="1100"/>
                    </a:p>
                  </a:txBody>
                  <a:tcPr marL="101600" marR="101600" marT="101600" marB="101600" anchor="t" anchorCtr="0">
                    <a:lnL>
                      <a:noFill/>
                    </a:lnL>
                    <a:lnR>
                      <a:noFill/>
                    </a:lnR>
                    <a:lnT>
                      <a:noFill/>
                    </a:lnT>
                    <a:lnB>
                      <a:noFill/>
                    </a:lnB>
                    <a:noFill/>
                  </a:tcPr>
                </a:tc>
              </a:tr>
              <a:tr h="370840">
                <a:tc>
                  <a:txBody>
                    <a:bodyPr/>
                    <a:p>
                      <a:pPr marL="0" indent="0" algn="l">
                        <a:lnSpc>
                          <a:spcPct val="100000"/>
                        </a:lnSpc>
                        <a:defRPr/>
                      </a:pPr>
                      <a:r>
                        <a:rPr lang="en-US" sz="1100" b="1" i="0" u="none" strike="noStrike">
                          <a:solidFill>
                            <a:srgbClr val="0D1326"/>
                          </a:solidFill>
                          <a:latin typeface="Inter"/>
                          <a:ea typeface="Inter"/>
                          <a:cs typeface="Inter"/>
                          <a:sym typeface="Inter"/>
                        </a:rPr>
                        <a:t>License</a:t>
                      </a:r>
                      <a:endParaRPr lang="en-US" sz="1100"/>
                    </a:p>
                  </a:txBody>
                  <a:tcPr marL="101600" marR="101600" marT="101600" marB="101600" anchor="t" anchorCtr="0">
                    <a:lnL>
                      <a:noFill/>
                    </a:lnL>
                    <a:lnR>
                      <a:noFill/>
                    </a:lnR>
                    <a:lnT>
                      <a:noFill/>
                    </a:lnT>
                    <a:lnB>
                      <a:noFill/>
                    </a:lnB>
                    <a:noFill/>
                  </a:tcPr>
                </a:tc>
                <a:tc>
                  <a:txBody>
                    <a:bodyPr/>
                    <a:p>
                      <a:pPr marL="0" indent="0" algn="l">
                        <a:lnSpc>
                          <a:spcPct val="100000"/>
                        </a:lnSpc>
                        <a:defRPr/>
                      </a:pPr>
                      <a:r>
                        <a:rPr lang="en-US" sz="1100" b="0" i="0" u="none" strike="noStrike">
                          <a:solidFill>
                            <a:srgbClr val="536174"/>
                          </a:solidFill>
                          <a:latin typeface="Inter"/>
                          <a:ea typeface="Inter"/>
                          <a:cs typeface="Inter"/>
                          <a:sym typeface="Inter"/>
                        </a:rPr>
                        <a:t>Apache-2.0</a:t>
                      </a:r>
                      <a:endParaRPr lang="en-US" sz="1100"/>
                    </a:p>
                  </a:txBody>
                  <a:tcPr marL="101600" marR="101600" marT="101600" marB="101600" anchor="t" anchorCtr="0">
                    <a:lnL>
                      <a:noFill/>
                    </a:lnL>
                    <a:lnR>
                      <a:noFill/>
                    </a:lnR>
                    <a:lnT>
                      <a:noFill/>
                    </a:lnT>
                    <a:lnB>
                      <a:noFill/>
                    </a:lnB>
                    <a:noFill/>
                  </a:tcPr>
                </a:tc>
              </a:tr>
            </a:tbl>
          </a:graphicData>
        </a:graphic>
      </p:graphicFrame>
      <p:sp>
        <p:nvSpPr>
          <p:cNvPr id="7" name="AutoShape 7"/>
          <p:cNvSpPr/>
          <p:nvPr/>
        </p:nvSpPr>
        <p:spPr>
          <a:xfrm>
            <a:off x="6223000" y="270891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Inter"/>
                <a:ea typeface="Inter"/>
                <a:cs typeface="Inter"/>
                <a:sym typeface="Inter"/>
              </a:rPr>
              <a:t>Architecture decision records</a:t>
            </a:r>
            <a:endParaRPr lang="en-US" sz="1100"/>
          </a:p>
        </p:txBody>
      </p:sp>
      <p:sp>
        <p:nvSpPr>
          <p:cNvPr id="8" name="AutoShape 8"/>
          <p:cNvSpPr/>
          <p:nvPr/>
        </p:nvSpPr>
        <p:spPr>
          <a:xfrm>
            <a:off x="6223000" y="2032000"/>
            <a:ext cx="5207000" cy="3937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ADR-0001</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sippy chosen as SIP stack and B2BUA framework</a:t>
            </a:r>
            <a:endParaRPr lang="en-US" sz="1100"/>
          </a:p>
          <a:p>
            <a:pPr marL="0" indent="0" algn="l">
              <a:lnSpc>
                <a:spcPct val="158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ADR-0002</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console as separate process, internal API</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ADR-0003</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UDP only (POC scope)</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ADR-0004</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declarative YAML rules with hot reload</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ADR-0005</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Mock S-SBC on same SIP stack as AS</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8000"/>
              </a:lnSpc>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ADR-0006</a:t>
            </a: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signalling plane only, no media</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09 / MILESTONES</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All M0-M4 milestones complete, v0.5.0 ready</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nvSpPr>
        <p:spPr>
          <a:xfrm>
            <a:off x="1143000" y="1841500"/>
            <a:ext cx="203200" cy="203200"/>
          </a:xfrm>
          <a:prstGeom prst="ellipse">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1590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D1326"/>
                </a:solidFill>
                <a:latin typeface="Inter"/>
                <a:ea typeface="Inter"/>
                <a:cs typeface="Inter"/>
                <a:sym typeface="Inter"/>
              </a:rPr>
              <a:t>M0</a:t>
            </a:r>
            <a:endParaRPr lang="en-US" sz="1100"/>
          </a:p>
        </p:txBody>
      </p:sp>
      <p:sp>
        <p:nvSpPr>
          <p:cNvPr id="7" name="AutoShape 7"/>
          <p:cNvSpPr/>
          <p:nvPr/>
        </p:nvSpPr>
        <p:spPr>
          <a:xfrm>
            <a:off x="762000" y="2476500"/>
            <a:ext cx="1778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2563EB"/>
                </a:solidFill>
                <a:latin typeface="Inter"/>
                <a:ea typeface="Inter"/>
                <a:cs typeface="Inter"/>
                <a:sym typeface="Inter"/>
              </a:rPr>
              <a:t>Foundation</a:t>
            </a:r>
            <a:endParaRPr lang="en-US" sz="1100"/>
          </a:p>
        </p:txBody>
      </p:sp>
      <p:sp>
        <p:nvSpPr>
          <p:cNvPr id="8" name="AutoShape 8"/>
          <p:cNvSpPr/>
          <p:nvPr/>
        </p:nvSpPr>
        <p:spPr>
          <a:xfrm>
            <a:off x="698500" y="2768600"/>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skeleton - toolchain</a:t>
            </a:r>
            <a:endParaRPr lang="en-US" sz="1100"/>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sippy validation - docs baseline</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Sample routing data</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111500" y="1841500"/>
            <a:ext cx="203200" cy="203200"/>
          </a:xfrm>
          <a:prstGeom prst="ellipse">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730500" y="21590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D1326"/>
                </a:solidFill>
                <a:latin typeface="Inter"/>
                <a:ea typeface="Inter"/>
                <a:cs typeface="Inter"/>
                <a:sym typeface="Inter"/>
              </a:rPr>
              <a:t>M1</a:t>
            </a:r>
            <a:endParaRPr lang="en-US" sz="1100"/>
          </a:p>
        </p:txBody>
      </p:sp>
      <p:sp>
        <p:nvSpPr>
          <p:cNvPr id="11" name="AutoShape 11"/>
          <p:cNvSpPr/>
          <p:nvPr/>
        </p:nvSpPr>
        <p:spPr>
          <a:xfrm>
            <a:off x="2730500" y="2476500"/>
            <a:ext cx="1778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2563EB"/>
                </a:solidFill>
                <a:latin typeface="Inter"/>
                <a:ea typeface="Inter"/>
                <a:cs typeface="Inter"/>
                <a:sym typeface="Inter"/>
              </a:rPr>
              <a:t>Signalling path</a:t>
            </a:r>
            <a:endParaRPr lang="en-US" sz="1100"/>
          </a:p>
        </p:txBody>
      </p:sp>
      <p:sp>
        <p:nvSpPr>
          <p:cNvPr id="12" name="AutoShape 12"/>
          <p:cNvSpPr/>
          <p:nvPr/>
        </p:nvSpPr>
        <p:spPr>
          <a:xfrm>
            <a:off x="2667000" y="2768600"/>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call flow</a:t>
            </a:r>
            <a:endParaRPr lang="en-US" sz="1100"/>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Pass-through - structured logs</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Health check - graceful shutdown</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5080000" y="1841500"/>
            <a:ext cx="203200" cy="203200"/>
          </a:xfrm>
          <a:prstGeom prst="ellipse">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99000" y="21590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D1326"/>
                </a:solidFill>
                <a:latin typeface="Inter"/>
                <a:ea typeface="Inter"/>
                <a:cs typeface="Inter"/>
                <a:sym typeface="Inter"/>
              </a:rPr>
              <a:t>M2</a:t>
            </a:r>
            <a:endParaRPr lang="en-US" sz="1100"/>
          </a:p>
        </p:txBody>
      </p:sp>
      <p:sp>
        <p:nvSpPr>
          <p:cNvPr id="15" name="AutoShape 15"/>
          <p:cNvSpPr/>
          <p:nvPr/>
        </p:nvSpPr>
        <p:spPr>
          <a:xfrm>
            <a:off x="4699000" y="2476500"/>
            <a:ext cx="1778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2563EB"/>
                </a:solidFill>
                <a:latin typeface="Inter"/>
                <a:ea typeface="Inter"/>
                <a:cs typeface="Inter"/>
                <a:sym typeface="Inter"/>
              </a:rPr>
              <a:t>Number translation</a:t>
            </a:r>
            <a:endParaRPr lang="en-US" sz="1100"/>
          </a:p>
        </p:txBody>
      </p:sp>
      <p:sp>
        <p:nvSpPr>
          <p:cNvPr id="16" name="AutoShape 16"/>
          <p:cNvSpPr/>
          <p:nvPr/>
        </p:nvSpPr>
        <p:spPr>
          <a:xfrm>
            <a:off x="4635500" y="2768600"/>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Rule engine - hot reload</a:t>
            </a:r>
            <a:endParaRPr lang="en-US" sz="1100"/>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Error branches - failover</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Error code system</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7048500" y="1841500"/>
            <a:ext cx="203200" cy="203200"/>
          </a:xfrm>
          <a:prstGeom prst="ellipse">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667500" y="21590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D1326"/>
                </a:solidFill>
                <a:latin typeface="Inter"/>
                <a:ea typeface="Inter"/>
                <a:cs typeface="Inter"/>
                <a:sym typeface="Inter"/>
              </a:rPr>
              <a:t>M3</a:t>
            </a:r>
            <a:endParaRPr lang="en-US" sz="1100"/>
          </a:p>
        </p:txBody>
      </p:sp>
      <p:sp>
        <p:nvSpPr>
          <p:cNvPr id="19" name="AutoShape 19"/>
          <p:cNvSpPr/>
          <p:nvPr/>
        </p:nvSpPr>
        <p:spPr>
          <a:xfrm>
            <a:off x="6667500" y="2476500"/>
            <a:ext cx="1778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2563EB"/>
                </a:solidFill>
                <a:latin typeface="Inter"/>
                <a:ea typeface="Inter"/>
                <a:cs typeface="Inter"/>
                <a:sym typeface="Inter"/>
              </a:rPr>
              <a:t>Ops console</a:t>
            </a:r>
            <a:endParaRPr lang="en-US" sz="1100"/>
          </a:p>
        </p:txBody>
      </p:sp>
      <p:sp>
        <p:nvSpPr>
          <p:cNvPr id="20" name="AutoShape 20"/>
          <p:cNvSpPr/>
          <p:nvPr/>
        </p:nvSpPr>
        <p:spPr>
          <a:xfrm>
            <a:off x="6604000" y="2768600"/>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FastAPI - WebSocket</a:t>
            </a:r>
            <a:endParaRPr lang="en-US" sz="1100"/>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flow - topology view</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Stats panel</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9017000" y="1841500"/>
            <a:ext cx="203200" cy="203200"/>
          </a:xfrm>
          <a:prstGeom prst="ellipse">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636000" y="21590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D1326"/>
                </a:solidFill>
                <a:latin typeface="Inter"/>
                <a:ea typeface="Inter"/>
                <a:cs typeface="Inter"/>
                <a:sym typeface="Inter"/>
              </a:rPr>
              <a:t>M4</a:t>
            </a:r>
            <a:endParaRPr lang="en-US" sz="1100"/>
          </a:p>
        </p:txBody>
      </p:sp>
      <p:sp>
        <p:nvSpPr>
          <p:cNvPr id="23" name="AutoShape 23"/>
          <p:cNvSpPr/>
          <p:nvPr/>
        </p:nvSpPr>
        <p:spPr>
          <a:xfrm>
            <a:off x="8636000" y="2476500"/>
            <a:ext cx="1778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2563EB"/>
                </a:solidFill>
                <a:latin typeface="Inter"/>
                <a:ea typeface="Inter"/>
                <a:cs typeface="Inter"/>
                <a:sym typeface="Inter"/>
              </a:rPr>
              <a:t>Acceptance</a:t>
            </a:r>
            <a:endParaRPr lang="en-US" sz="1100"/>
          </a:p>
        </p:txBody>
      </p:sp>
      <p:sp>
        <p:nvSpPr>
          <p:cNvPr id="24" name="AutoShape 24"/>
          <p:cNvSpPr/>
          <p:nvPr/>
        </p:nvSpPr>
        <p:spPr>
          <a:xfrm>
            <a:off x="8572500" y="2768600"/>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acceptance evidence</a:t>
            </a:r>
            <a:endParaRPr lang="en-US" sz="1100"/>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Docs review - release</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v0.5.0</a:t>
            </a:r>
            <a:endParaRPr lang="en-US" sz="10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5" name="Connector 25"/>
          <p:cNvCxnSpPr/>
          <p:nvPr/>
        </p:nvCxnSpPr>
        <p:spPr>
          <a:xfrm rot="-5544">
            <a:off x="1244605" y="1936750"/>
            <a:ext cx="7874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none" w="lg" len="lg"/>
          </a:ln>
        </p:spPr>
      </p:cxnSp>
      <p:cxnSp>
        <p:nvCxnSpPr>
          <p:cNvPr id="26" name="Connector 26"/>
          <p:cNvCxnSpPr/>
          <p:nvPr/>
        </p:nvCxnSpPr>
        <p:spPr>
          <a:xfrm rot="-4092">
            <a:off x="762004" y="41846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27" name="AutoShape 27"/>
          <p:cNvSpPr/>
          <p:nvPr/>
        </p:nvSpPr>
        <p:spPr>
          <a:xfrm>
            <a:off x="762000" y="4445000"/>
            <a:ext cx="254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2563EB"/>
                </a:solidFill>
                <a:latin typeface="Inter"/>
                <a:ea typeface="Inter"/>
                <a:cs typeface="Inter"/>
                <a:sym typeface="Inter"/>
              </a:rPr>
              <a:t>119</a:t>
            </a:r>
            <a:endParaRPr lang="en-US" sz="1100"/>
          </a:p>
        </p:txBody>
      </p:sp>
      <p:sp>
        <p:nvSpPr>
          <p:cNvPr id="28" name="AutoShape 28"/>
          <p:cNvSpPr/>
          <p:nvPr/>
        </p:nvSpPr>
        <p:spPr>
          <a:xfrm>
            <a:off x="762000" y="52070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6174"/>
                </a:solidFill>
                <a:latin typeface="Inter"/>
                <a:ea typeface="Inter"/>
                <a:cs typeface="Inter"/>
                <a:sym typeface="Inter"/>
              </a:rPr>
              <a:t>tests all passing</a:t>
            </a:r>
            <a:endParaRPr lang="en-US" sz="1100"/>
          </a:p>
        </p:txBody>
      </p:sp>
      <p:sp>
        <p:nvSpPr>
          <p:cNvPr id="29" name="AutoShape 29"/>
          <p:cNvSpPr/>
          <p:nvPr/>
        </p:nvSpPr>
        <p:spPr>
          <a:xfrm>
            <a:off x="4064000" y="4445000"/>
            <a:ext cx="254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2563EB"/>
                </a:solidFill>
                <a:latin typeface="Inter"/>
                <a:ea typeface="Inter"/>
                <a:cs typeface="Inter"/>
                <a:sym typeface="Inter"/>
              </a:rPr>
              <a:t>3</a:t>
            </a:r>
            <a:endParaRPr lang="en-US" sz="1100"/>
          </a:p>
        </p:txBody>
      </p:sp>
      <p:sp>
        <p:nvSpPr>
          <p:cNvPr id="30" name="AutoShape 30"/>
          <p:cNvSpPr/>
          <p:nvPr/>
        </p:nvSpPr>
        <p:spPr>
          <a:xfrm>
            <a:off x="4064000" y="5181600"/>
            <a:ext cx="2794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6174"/>
                </a:solidFill>
                <a:latin typeface="Inter"/>
                <a:ea typeface="Inter"/>
                <a:cs typeface="Inter"/>
                <a:sym typeface="Inter"/>
              </a:rPr>
              <a:t>test layers (unit / integration / e2e)</a:t>
            </a:r>
            <a:endParaRPr lang="en-US" sz="1100"/>
          </a:p>
        </p:txBody>
      </p:sp>
      <p:sp>
        <p:nvSpPr>
          <p:cNvPr id="31" name="AutoShape 31"/>
          <p:cNvSpPr/>
          <p:nvPr/>
        </p:nvSpPr>
        <p:spPr>
          <a:xfrm>
            <a:off x="7366000" y="4445000"/>
            <a:ext cx="254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2563EB"/>
                </a:solidFill>
                <a:latin typeface="Inter"/>
                <a:ea typeface="Inter"/>
                <a:cs typeface="Inter"/>
                <a:sym typeface="Inter"/>
              </a:rPr>
              <a:t>6</a:t>
            </a:r>
            <a:endParaRPr lang="en-US" sz="1100"/>
          </a:p>
        </p:txBody>
      </p:sp>
      <p:sp>
        <p:nvSpPr>
          <p:cNvPr id="32" name="AutoShape 32"/>
          <p:cNvSpPr/>
          <p:nvPr/>
        </p:nvSpPr>
        <p:spPr>
          <a:xfrm>
            <a:off x="7366000" y="52070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6174"/>
                </a:solidFill>
                <a:latin typeface="Inter"/>
                <a:ea typeface="Inter"/>
                <a:cs typeface="Inter"/>
                <a:sym typeface="Inter"/>
              </a:rPr>
              <a:t>architecture decision records</a:t>
            </a:r>
            <a:endParaRPr lang="en-US" sz="1100"/>
          </a:p>
        </p:txBody>
      </p:sp>
      <p:sp>
        <p:nvSpPr>
          <p:cNvPr id="33" name="AutoShape 33"/>
          <p:cNvSpPr/>
          <p:nvPr/>
        </p:nvSpPr>
        <p:spPr>
          <a:xfrm>
            <a:off x="9779000" y="4445000"/>
            <a:ext cx="2032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2563EB"/>
                </a:solidFill>
                <a:latin typeface="Inter"/>
                <a:ea typeface="Inter"/>
                <a:cs typeface="Inter"/>
                <a:sym typeface="Inter"/>
              </a:rPr>
              <a:t>v0.5.0</a:t>
            </a:r>
            <a:endParaRPr lang="en-US" sz="1100"/>
          </a:p>
        </p:txBody>
      </p:sp>
      <p:sp>
        <p:nvSpPr>
          <p:cNvPr id="34" name="AutoShape 34"/>
          <p:cNvSpPr/>
          <p:nvPr/>
        </p:nvSpPr>
        <p:spPr>
          <a:xfrm>
            <a:off x="9779000" y="5207000"/>
            <a:ext cx="203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6174"/>
                </a:solidFill>
                <a:latin typeface="Inter"/>
                <a:ea typeface="Inter"/>
                <a:cs typeface="Inter"/>
                <a:sym typeface="Inter"/>
              </a:rPr>
              <a:t>current version</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4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445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563EB"/>
                </a:solidFill>
                <a:latin typeface="Inter"/>
                <a:ea typeface="Inter"/>
                <a:cs typeface="Inter"/>
                <a:sym typeface="Inter"/>
              </a:rPr>
              <a:t>10 / RESTRICTIONS &amp; TODO</a:t>
            </a:r>
            <a:endParaRPr lang="en-US" sz="1100"/>
          </a:p>
        </p:txBody>
      </p:sp>
      <p:sp>
        <p:nvSpPr>
          <p:cNvPr id="3" name="AutoShape 3"/>
          <p:cNvSpPr/>
          <p:nvPr/>
        </p:nvSpPr>
        <p:spPr>
          <a:xfrm>
            <a:off x="762000" y="762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Known restrictions and items to be completed</a:t>
            </a:r>
            <a:endParaRPr lang="en-US" sz="1100"/>
          </a:p>
        </p:txBody>
      </p:sp>
      <p:cxnSp>
        <p:nvCxnSpPr>
          <p:cNvPr id="4" name="Connector 4"/>
          <p:cNvCxnSpPr/>
          <p:nvPr/>
        </p:nvCxnSpPr>
        <p:spPr>
          <a:xfrm rot="-4092">
            <a:off x="762004" y="1301750"/>
            <a:ext cx="10668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5" name="AutoShape 5"/>
          <p:cNvSpPr/>
          <p:nvPr>
            <p:custDataLst>
              <p:tags r:id="rId1"/>
            </p:custDataLst>
          </p:nvPr>
        </p:nvSpPr>
        <p:spPr>
          <a:xfrm>
            <a:off x="762000" y="1587500"/>
            <a:ext cx="5080000" cy="4699000"/>
          </a:xfrm>
          <a:prstGeom prst="roundRect">
            <a:avLst>
              <a:gd name="adj" fmla="val 0"/>
            </a:avLst>
          </a:prstGeom>
          <a:solidFill>
            <a:srgbClr val="FFF1F2">
              <a:alpha val="100000"/>
            </a:srgbClr>
          </a:solidFill>
          <a:ln w="12700" cap="flat" cmpd="sng">
            <a:solidFill>
              <a:srgbClr val="C9302C">
                <a:alpha val="10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1016000" y="17780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C9302C"/>
                </a:solidFill>
                <a:latin typeface="Inter"/>
                <a:ea typeface="Inter"/>
                <a:cs typeface="Inter"/>
                <a:sym typeface="Inter"/>
              </a:rPr>
              <a:t>RESTRICTIONS</a:t>
            </a:r>
            <a:endParaRPr lang="en-US" sz="1100"/>
          </a:p>
        </p:txBody>
      </p:sp>
      <p:sp>
        <p:nvSpPr>
          <p:cNvPr id="7" name="AutoShape 7"/>
          <p:cNvSpPr/>
          <p:nvPr>
            <p:custDataLst>
              <p:tags r:id="rId3"/>
            </p:custDataLst>
          </p:nvPr>
        </p:nvSpPr>
        <p:spPr>
          <a:xfrm>
            <a:off x="1016000" y="2222500"/>
            <a:ext cx="457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Current POC limitations by design</a:t>
            </a:r>
            <a:endParaRPr lang="en-US" sz="1100"/>
          </a:p>
        </p:txBody>
      </p:sp>
      <p:sp>
        <p:nvSpPr>
          <p:cNvPr id="8" name="AutoShape 8"/>
          <p:cNvSpPr/>
          <p:nvPr>
            <p:custDataLst>
              <p:tags r:id="rId4"/>
            </p:custDataLst>
          </p:nvPr>
        </p:nvSpPr>
        <p:spPr>
          <a:xfrm>
            <a:off x="1016000" y="2603500"/>
            <a:ext cx="4572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UDP transport only, no TCP or TLS</a:t>
            </a:r>
            <a:endParaRPr lang="en-US" sz="1100"/>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Source IP whitelist only, no SIP Digest auth</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Single peer pair, no multi-S-SBC routing</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No persistence; calls lost on restart</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No CDR generation or billing interface</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No DoS protection, rate limiting, or CAC</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Local file logs only, no central collection</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Local YAML + .env config only</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5"/>
            </p:custDataLst>
          </p:nvPr>
        </p:nvSpPr>
        <p:spPr>
          <a:xfrm>
            <a:off x="6350000" y="1587500"/>
            <a:ext cx="5080000" cy="4699000"/>
          </a:xfrm>
          <a:prstGeom prst="roundRect">
            <a:avLst>
              <a:gd name="adj" fmla="val 0"/>
            </a:avLst>
          </a:prstGeom>
          <a:solidFill>
            <a:srgbClr val="EFF6FF">
              <a:alpha val="100000"/>
            </a:srgbClr>
          </a:solidFill>
          <a:ln w="12700" cap="flat" cmpd="sng">
            <a:solidFill>
              <a:srgbClr val="2563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6"/>
            </p:custDataLst>
          </p:nvPr>
        </p:nvSpPr>
        <p:spPr>
          <a:xfrm>
            <a:off x="6604000" y="17780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Inter"/>
                <a:ea typeface="Inter"/>
                <a:cs typeface="Inter"/>
                <a:sym typeface="Inter"/>
              </a:rPr>
              <a:t>TODO </a:t>
            </a:r>
            <a:endParaRPr lang="en-US" sz="1100"/>
          </a:p>
        </p:txBody>
      </p:sp>
      <p:sp>
        <p:nvSpPr>
          <p:cNvPr id="11" name="AutoShape 11"/>
          <p:cNvSpPr/>
          <p:nvPr>
            <p:custDataLst>
              <p:tags r:id="rId7"/>
            </p:custDataLst>
          </p:nvPr>
        </p:nvSpPr>
        <p:spPr>
          <a:xfrm>
            <a:off x="6604000" y="2222500"/>
            <a:ext cx="457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Roadmap to production-grade</a:t>
            </a:r>
            <a:endParaRPr lang="en-US" sz="1100"/>
          </a:p>
        </p:txBody>
      </p:sp>
      <p:sp>
        <p:nvSpPr>
          <p:cNvPr id="12" name="AutoShape 12"/>
          <p:cNvSpPr/>
          <p:nvPr>
            <p:custDataLst>
              <p:tags r:id="rId8"/>
            </p:custDataLst>
          </p:nvPr>
        </p:nvSpPr>
        <p:spPr>
          <a:xfrm>
            <a:off x="6604000" y="2603500"/>
            <a:ext cx="4572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Add TCP and TLS transport (SIPS)</a:t>
            </a:r>
            <a:endParaRPr lang="en-US" sz="1100"/>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SIP Digest authentication and TLS certs</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Multi-S-SBC peer group with smart failover</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Session persistence and restart recovery</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Per-call CDR generation and reporting</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Rate limiting, CAC, and black/white lists</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Centralized log collection and alerting</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Managed config service and secret management</a:t>
            </a:r>
            <a:endPar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alpha val="100000"/>
              </a:srgbClr>
            </a:gs>
            <a:gs pos="100000">
              <a:srgbClr val="2563E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016000" y="1524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FD7FF"/>
                </a:solidFill>
                <a:latin typeface="Inter"/>
                <a:ea typeface="Inter"/>
                <a:cs typeface="Inter"/>
                <a:sym typeface="Inter"/>
              </a:rPr>
              <a:t>THIRD-PARTY IMS / SIP APPLICATION SERVER</a:t>
            </a:r>
            <a:endParaRPr lang="en-US" sz="1100"/>
          </a:p>
        </p:txBody>
      </p:sp>
      <p:sp>
        <p:nvSpPr>
          <p:cNvPr id="3" name="AutoShape 3"/>
          <p:cNvSpPr/>
          <p:nvPr/>
        </p:nvSpPr>
        <p:spPr>
          <a:xfrm>
            <a:off x="1016000" y="2159000"/>
            <a:ext cx="1041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800" b="1" i="0" u="none" strike="noStrike">
                <a:solidFill>
                  <a:srgbClr val="FFFFFF"/>
                </a:solidFill>
                <a:latin typeface="Inter"/>
                <a:ea typeface="Inter"/>
                <a:cs typeface="Inter"/>
                <a:sym typeface="Inter"/>
              </a:rPr>
              <a:t>Signalling-only B2BUA, POC verified</a:t>
            </a:r>
            <a:endParaRPr lang="en-US" sz="1100"/>
          </a:p>
        </p:txBody>
      </p:sp>
      <p:sp>
        <p:nvSpPr>
          <p:cNvPr id="4" name="AutoShape 4"/>
          <p:cNvSpPr/>
          <p:nvPr/>
        </p:nvSpPr>
        <p:spPr>
          <a:xfrm>
            <a:off x="1016000" y="3175000"/>
            <a:ext cx="9906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BFD7FF"/>
                </a:solidFill>
                <a:latin typeface="Inter"/>
                <a:ea typeface="Inter"/>
                <a:cs typeface="Inter"/>
                <a:sym typeface="Inter"/>
              </a:rPr>
              <a:t>Declarative routing rules - multi-format number translation - carrier-grade observability</a:t>
            </a:r>
            <a:endParaRPr lang="en-US" sz="1100"/>
          </a:p>
        </p:txBody>
      </p:sp>
      <p:cxnSp>
        <p:nvCxnSpPr>
          <p:cNvPr id="5" name="Connector 5"/>
          <p:cNvCxnSpPr/>
          <p:nvPr/>
        </p:nvCxnSpPr>
        <p:spPr>
          <a:xfrm rot="-17188">
            <a:off x="1016016" y="3930650"/>
            <a:ext cx="2540000" cy="12700"/>
          </a:xfrm>
          <a:prstGeom prst="straightConnector1">
            <a:avLst/>
          </a:prstGeom>
          <a:solidFill>
            <a:srgbClr val="DEE0E3">
              <a:alpha val="100000"/>
            </a:srgbClr>
          </a:solidFill>
          <a:ln w="12700" cap="flat" cmpd="sng">
            <a:solidFill>
              <a:srgbClr val="BFD7FF">
                <a:alpha val="50000"/>
              </a:srgbClr>
            </a:solidFill>
            <a:prstDash val="solid"/>
            <a:round/>
            <a:headEnd type="none" w="med" len="med"/>
            <a:tailEnd type="none" w="med" len="med"/>
          </a:ln>
        </p:spPr>
      </p:cxnSp>
      <p:sp>
        <p:nvSpPr>
          <p:cNvPr id="6" name="AutoShape 6"/>
          <p:cNvSpPr/>
          <p:nvPr/>
        </p:nvSpPr>
        <p:spPr>
          <a:xfrm>
            <a:off x="1016000" y="4318000"/>
            <a:ext cx="2286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200" b="1" i="0" u="none" strike="noStrike">
                <a:solidFill>
                  <a:srgbClr val="FFFFFF"/>
                </a:solidFill>
                <a:latin typeface="Inter"/>
                <a:ea typeface="Inter"/>
                <a:cs typeface="Inter"/>
                <a:sym typeface="Inter"/>
              </a:rPr>
              <a:t>v0.5.0</a:t>
            </a:r>
            <a:endParaRPr lang="en-US" sz="1100"/>
          </a:p>
        </p:txBody>
      </p:sp>
      <p:sp>
        <p:nvSpPr>
          <p:cNvPr id="7" name="AutoShape 7"/>
          <p:cNvSpPr/>
          <p:nvPr/>
        </p:nvSpPr>
        <p:spPr>
          <a:xfrm>
            <a:off x="1016000" y="4953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BFD7FF"/>
                </a:solidFill>
                <a:latin typeface="Inter"/>
                <a:ea typeface="Inter"/>
                <a:cs typeface="Inter"/>
                <a:sym typeface="Inter"/>
              </a:rPr>
              <a:t>Current version</a:t>
            </a:r>
            <a:endParaRPr lang="en-US" sz="1100"/>
          </a:p>
        </p:txBody>
      </p:sp>
      <p:sp>
        <p:nvSpPr>
          <p:cNvPr id="8" name="AutoShape 8"/>
          <p:cNvSpPr/>
          <p:nvPr/>
        </p:nvSpPr>
        <p:spPr>
          <a:xfrm>
            <a:off x="3683000" y="4318000"/>
            <a:ext cx="2286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200" b="1" i="0" u="none" strike="noStrike">
                <a:solidFill>
                  <a:srgbClr val="FFFFFF"/>
                </a:solidFill>
                <a:latin typeface="Inter"/>
                <a:ea typeface="Inter"/>
                <a:cs typeface="Inter"/>
                <a:sym typeface="Inter"/>
              </a:rPr>
              <a:t>119</a:t>
            </a:r>
            <a:endParaRPr lang="en-US" sz="1100"/>
          </a:p>
        </p:txBody>
      </p:sp>
      <p:sp>
        <p:nvSpPr>
          <p:cNvPr id="9" name="AutoShape 9"/>
          <p:cNvSpPr/>
          <p:nvPr/>
        </p:nvSpPr>
        <p:spPr>
          <a:xfrm>
            <a:off x="3683000" y="4953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BFD7FF"/>
                </a:solidFill>
                <a:latin typeface="Inter"/>
                <a:ea typeface="Inter"/>
                <a:cs typeface="Inter"/>
                <a:sym typeface="Inter"/>
              </a:rPr>
              <a:t>tests all passing</a:t>
            </a:r>
            <a:endParaRPr lang="en-US" sz="1100"/>
          </a:p>
        </p:txBody>
      </p:sp>
      <p:sp>
        <p:nvSpPr>
          <p:cNvPr id="10" name="AutoShape 10"/>
          <p:cNvSpPr/>
          <p:nvPr/>
        </p:nvSpPr>
        <p:spPr>
          <a:xfrm>
            <a:off x="6350000" y="4318000"/>
            <a:ext cx="2286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200" b="1" i="0" u="none" strike="noStrike">
                <a:solidFill>
                  <a:srgbClr val="FFFFFF"/>
                </a:solidFill>
                <a:latin typeface="Inter"/>
                <a:ea typeface="Inter"/>
                <a:cs typeface="Inter"/>
                <a:sym typeface="Inter"/>
              </a:rPr>
              <a:t>6 ADR</a:t>
            </a:r>
            <a:endParaRPr lang="en-US" sz="1100"/>
          </a:p>
        </p:txBody>
      </p:sp>
      <p:sp>
        <p:nvSpPr>
          <p:cNvPr id="11" name="AutoShape 11"/>
          <p:cNvSpPr/>
          <p:nvPr/>
        </p:nvSpPr>
        <p:spPr>
          <a:xfrm>
            <a:off x="6350000" y="4953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BFD7FF"/>
                </a:solidFill>
                <a:latin typeface="Inter"/>
                <a:ea typeface="Inter"/>
                <a:cs typeface="Inter"/>
                <a:sym typeface="Inter"/>
              </a:rPr>
              <a:t>architecture decisions</a:t>
            </a:r>
            <a:endParaRPr lang="en-US" sz="1100"/>
          </a:p>
        </p:txBody>
      </p:sp>
      <p:sp>
        <p:nvSpPr>
          <p:cNvPr id="12" name="AutoShape 12"/>
          <p:cNvSpPr/>
          <p:nvPr/>
        </p:nvSpPr>
        <p:spPr>
          <a:xfrm>
            <a:off x="8763000" y="4318000"/>
            <a:ext cx="2667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200" b="1" i="0" u="none" strike="noStrike">
                <a:solidFill>
                  <a:srgbClr val="FFFFFF"/>
                </a:solidFill>
                <a:latin typeface="Inter"/>
                <a:ea typeface="Inter"/>
                <a:cs typeface="Inter"/>
                <a:sym typeface="Inter"/>
              </a:rPr>
              <a:t>Apache-2.0</a:t>
            </a:r>
            <a:endParaRPr lang="en-US" sz="1100"/>
          </a:p>
        </p:txBody>
      </p:sp>
      <p:sp>
        <p:nvSpPr>
          <p:cNvPr id="13" name="AutoShape 13"/>
          <p:cNvSpPr/>
          <p:nvPr/>
        </p:nvSpPr>
        <p:spPr>
          <a:xfrm>
            <a:off x="8763000" y="4953000"/>
            <a:ext cx="266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BFD7FF"/>
                </a:solidFill>
                <a:latin typeface="Inter"/>
                <a:ea typeface="Inter"/>
                <a:cs typeface="Inter"/>
                <a:sym typeface="Inter"/>
              </a:rPr>
              <a:t>Open source license</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alpha val="100000"/>
              </a:srgbClr>
            </a:gs>
            <a:gs pos="100000">
              <a:srgbClr val="2563E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38200" y="466725"/>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FD7FF"/>
                </a:solidFill>
                <a:latin typeface="Inter"/>
                <a:ea typeface="Inter"/>
                <a:cs typeface="Inter"/>
                <a:sym typeface="Inter"/>
              </a:rPr>
              <a:t>Demo - Call Trace</a:t>
            </a:r>
            <a:endParaRPr lang="en-US" sz="1100"/>
          </a:p>
        </p:txBody>
      </p:sp>
      <p:pic>
        <p:nvPicPr>
          <p:cNvPr id="17" name="图片 16"/>
          <p:cNvPicPr>
            <a:picLocks noChangeAspect="1"/>
          </p:cNvPicPr>
          <p:nvPr/>
        </p:nvPicPr>
        <p:blipFill>
          <a:blip r:embed="rId1"/>
          <a:stretch>
            <a:fillRect/>
          </a:stretch>
        </p:blipFill>
        <p:spPr>
          <a:xfrm>
            <a:off x="946150" y="932815"/>
            <a:ext cx="9944100" cy="5257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alpha val="100000"/>
              </a:srgbClr>
            </a:gs>
            <a:gs pos="100000">
              <a:srgbClr val="2563E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38200" y="466725"/>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FD7FF"/>
                </a:solidFill>
                <a:latin typeface="Inter"/>
                <a:ea typeface="Inter"/>
                <a:cs typeface="Inter"/>
                <a:sym typeface="Inter"/>
              </a:rPr>
              <a:t>Demo cont - Rules</a:t>
            </a:r>
            <a:endParaRPr lang="en-US" sz="1100"/>
          </a:p>
        </p:txBody>
      </p:sp>
      <p:pic>
        <p:nvPicPr>
          <p:cNvPr id="4" name="图片 3"/>
          <p:cNvPicPr>
            <a:picLocks noChangeAspect="1"/>
          </p:cNvPicPr>
          <p:nvPr/>
        </p:nvPicPr>
        <p:blipFill>
          <a:blip r:embed="rId1"/>
          <a:stretch>
            <a:fillRect/>
          </a:stretch>
        </p:blipFill>
        <p:spPr>
          <a:xfrm>
            <a:off x="792480" y="891540"/>
            <a:ext cx="8856980" cy="576262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70,&quot;left&quot;:60,&quot;top&quot;:125,&quot;width&quot;:840}"/>
</p:tagLst>
</file>

<file path=ppt/tags/tag2.xml><?xml version="1.0" encoding="utf-8"?>
<p:tagLst xmlns:p="http://schemas.openxmlformats.org/presentationml/2006/main">
  <p:tag name="KSO_WM_DIAGRAM_VIRTUALLY_FRAME" val="{&quot;height&quot;:370,&quot;left&quot;:60,&quot;top&quot;:125,&quot;width&quot;:840}"/>
</p:tagLst>
</file>

<file path=ppt/tags/tag3.xml><?xml version="1.0" encoding="utf-8"?>
<p:tagLst xmlns:p="http://schemas.openxmlformats.org/presentationml/2006/main">
  <p:tag name="KSO_WM_DIAGRAM_VIRTUALLY_FRAME" val="{&quot;height&quot;:370,&quot;left&quot;:60,&quot;top&quot;:125,&quot;width&quot;:840}"/>
</p:tagLst>
</file>

<file path=ppt/tags/tag4.xml><?xml version="1.0" encoding="utf-8"?>
<p:tagLst xmlns:p="http://schemas.openxmlformats.org/presentationml/2006/main">
  <p:tag name="KSO_WM_DIAGRAM_VIRTUALLY_FRAME" val="{&quot;height&quot;:370,&quot;left&quot;:60,&quot;top&quot;:125,&quot;width&quot;:840}"/>
</p:tagLst>
</file>

<file path=ppt/tags/tag5.xml><?xml version="1.0" encoding="utf-8"?>
<p:tagLst xmlns:p="http://schemas.openxmlformats.org/presentationml/2006/main">
  <p:tag name="KSO_WM_DIAGRAM_VIRTUALLY_FRAME" val="{&quot;height&quot;:370,&quot;left&quot;:60,&quot;top&quot;:125,&quot;width&quot;:840}"/>
</p:tagLst>
</file>

<file path=ppt/tags/tag6.xml><?xml version="1.0" encoding="utf-8"?>
<p:tagLst xmlns:p="http://schemas.openxmlformats.org/presentationml/2006/main">
  <p:tag name="KSO_WM_DIAGRAM_VIRTUALLY_FRAME" val="{&quot;height&quot;:370,&quot;left&quot;:60,&quot;top&quot;:125,&quot;width&quot;:840}"/>
</p:tagLst>
</file>

<file path=ppt/tags/tag7.xml><?xml version="1.0" encoding="utf-8"?>
<p:tagLst xmlns:p="http://schemas.openxmlformats.org/presentationml/2006/main">
  <p:tag name="KSO_WM_DIAGRAM_VIRTUALLY_FRAME" val="{&quot;height&quot;:370,&quot;left&quot;:60,&quot;top&quot;:125,&quot;width&quot;:840}"/>
</p:tagLst>
</file>

<file path=ppt/tags/tag8.xml><?xml version="1.0" encoding="utf-8"?>
<p:tagLst xmlns:p="http://schemas.openxmlformats.org/presentationml/2006/main">
  <p:tag name="KSO_WM_DIAGRAM_VIRTUALLY_FRAME" val="{&quot;height&quot;:370,&quot;left&quot;:60,&quot;top&quot;:125,&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6418</Words>
  <Application>WPS 演示</Application>
  <PresentationFormat/>
  <Paragraphs>428</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4</vt:i4>
      </vt:variant>
      <vt:variant>
        <vt:lpstr>幻灯片标题</vt:lpstr>
      </vt:variant>
      <vt:variant>
        <vt:i4>14</vt:i4>
      </vt:variant>
    </vt:vector>
  </HeadingPairs>
  <TitlesOfParts>
    <vt:vector size="28" baseType="lpstr">
      <vt:lpstr>Arial</vt:lpstr>
      <vt:lpstr>宋体</vt:lpstr>
      <vt:lpstr>Wingdings</vt:lpstr>
      <vt:lpstr>Arial</vt:lpstr>
      <vt:lpstr>Inter</vt:lpstr>
      <vt:lpstr>Segoe Print</vt:lpstr>
      <vt:lpstr>Noto Sans SC</vt:lpstr>
      <vt:lpstr>Roboto Mono</vt:lpstr>
      <vt:lpstr>微软雅黑</vt:lpstr>
      <vt:lpstr>Arial Unicode MS</vt:lpstr>
      <vt:lpstr>Office 主题​​</vt:lpstr>
      <vt:lpstr>默认主题</vt:lpstr>
      <vt:lpstr>1_默认主题</vt:lpstr>
      <vt:lpstr>5_默认主题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陈佳音</cp:lastModifiedBy>
  <cp:revision>11</cp:revision>
  <dcterms:created xsi:type="dcterms:W3CDTF">2026-09-16T04:56:00Z</dcterms:created>
  <dcterms:modified xsi:type="dcterms:W3CDTF">2026-09-17T21:55:05Z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{"Label":"1","ContentProducer":"001191110102MACQD9K64010000","ProduceID":"7685991450677234669","ReservedCode1":"","ContentPropagator":"","PropagateID":"","ReservedCode2":""}</vt:lpwstr>
  </property>
  <property fmtid="{D5CDD505-2E9C-101B-9397-08002B2CF9AE}" pid="3" name="KSOProductBuildVer">
    <vt:lpwstr>2052-12.1.0.19302</vt:lpwstr>
  </property>
  <property fmtid="{D5CDD505-2E9C-101B-9397-08002B2CF9AE}" pid="4" name="ICV">
    <vt:lpwstr>BE461D49F1C54AB2BB7B405F7A44E6F9_13</vt:lpwstr>
  </property>
</Properties>
</file>